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51" y="4366346"/>
            <a:ext cx="432857" cy="47535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8149" y="4366346"/>
            <a:ext cx="475533" cy="4692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140" y="3135304"/>
            <a:ext cx="396277" cy="45706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44244" y="3129211"/>
            <a:ext cx="469436" cy="4692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8141" y="345318"/>
            <a:ext cx="3799204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72617" y="2850551"/>
            <a:ext cx="4504055" cy="1732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jpg"/><Relationship Id="rId11" Type="http://schemas.openxmlformats.org/officeDocument/2006/relationships/image" Target="../media/image27.png"/><Relationship Id="rId12" Type="http://schemas.openxmlformats.org/officeDocument/2006/relationships/image" Target="../media/image28.jpg"/><Relationship Id="rId13" Type="http://schemas.openxmlformats.org/officeDocument/2006/relationships/image" Target="../media/image29.jpg"/><Relationship Id="rId14" Type="http://schemas.openxmlformats.org/officeDocument/2006/relationships/image" Target="../media/image30.png"/><Relationship Id="rId15" Type="http://schemas.openxmlformats.org/officeDocument/2006/relationships/image" Target="../media/image3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0731"/>
            <a:ext cx="4011549" cy="60150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13685" y="2668074"/>
            <a:ext cx="4235450" cy="1089025"/>
          </a:xfrm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12700" marR="5080" indent="635">
              <a:lnSpc>
                <a:spcPts val="3929"/>
              </a:lnSpc>
              <a:spcBef>
                <a:spcPts val="655"/>
              </a:spcBef>
            </a:pPr>
            <a:r>
              <a:rPr dirty="0" sz="3700"/>
              <a:t>Customer</a:t>
            </a:r>
            <a:r>
              <a:rPr dirty="0" sz="3700" spc="-80"/>
              <a:t> </a:t>
            </a:r>
            <a:r>
              <a:rPr dirty="0" sz="3700" spc="-10"/>
              <a:t>Behaviour </a:t>
            </a:r>
            <a:r>
              <a:rPr dirty="0" sz="3700"/>
              <a:t>Analysis</a:t>
            </a:r>
            <a:r>
              <a:rPr dirty="0" sz="3700" spc="-95"/>
              <a:t> </a:t>
            </a:r>
            <a:r>
              <a:rPr dirty="0" sz="3700" spc="-10"/>
              <a:t>Dashboard</a:t>
            </a:r>
            <a:endParaRPr sz="3700"/>
          </a:p>
        </p:txBody>
      </p:sp>
      <p:sp>
        <p:nvSpPr>
          <p:cNvPr id="4" name="object 4" descr=""/>
          <p:cNvSpPr txBox="1"/>
          <p:nvPr/>
        </p:nvSpPr>
        <p:spPr>
          <a:xfrm>
            <a:off x="4616065" y="4014653"/>
            <a:ext cx="51695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14">
                <a:solidFill>
                  <a:srgbClr val="212121"/>
                </a:solidFill>
                <a:latin typeface="Consolas"/>
                <a:cs typeface="Consolas"/>
              </a:rPr>
              <a:t>End-to-end</a:t>
            </a:r>
            <a:r>
              <a:rPr dirty="0" sz="1350" spc="-31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1350" spc="-130">
                <a:solidFill>
                  <a:srgbClr val="1F1F1F"/>
                </a:solidFill>
                <a:latin typeface="Consolas"/>
                <a:cs typeface="Consolas"/>
              </a:rPr>
              <a:t>dataana|ysis</a:t>
            </a:r>
            <a:r>
              <a:rPr dirty="0" sz="1350" spc="-25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dirty="0" sz="1350" spc="-20">
                <a:solidFill>
                  <a:srgbClr val="1F1F1F"/>
                </a:solidFill>
                <a:latin typeface="Consolas"/>
                <a:cs typeface="Consolas"/>
              </a:rPr>
              <a:t>usingSQL,Python&amp;DashboardVisuahsaGon</a:t>
            </a:r>
            <a:endParaRPr sz="135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22731" y="4498896"/>
            <a:ext cx="2463165" cy="304800"/>
          </a:xfrm>
          <a:prstGeom prst="rect">
            <a:avLst/>
          </a:prstGeom>
          <a:ln w="9144">
            <a:solidFill>
              <a:srgbClr val="2B2B2B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375"/>
              </a:spcBef>
            </a:pPr>
            <a:r>
              <a:rPr dirty="0" sz="1050" spc="-7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dirty="0" sz="1050" spc="-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050" spc="-30">
                <a:solidFill>
                  <a:srgbClr val="161616"/>
                </a:solidFill>
                <a:latin typeface="Trebuchet MS"/>
                <a:cs typeface="Trebuchet MS"/>
              </a:rPr>
              <a:t>ANALYTICS</a:t>
            </a:r>
            <a:r>
              <a:rPr dirty="0" sz="1050" spc="-1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151515"/>
                </a:solidFill>
                <a:latin typeface="Trebuchet MS"/>
                <a:cs typeface="Trebuchet MS"/>
              </a:rPr>
              <a:t>PORTFOLIO</a:t>
            </a:r>
            <a:r>
              <a:rPr dirty="0" sz="1050" spc="35">
                <a:solidFill>
                  <a:srgbClr val="151515"/>
                </a:solidFill>
                <a:latin typeface="Trebuchet MS"/>
                <a:cs typeface="Trebuchet MS"/>
              </a:rPr>
              <a:t> </a:t>
            </a:r>
            <a:r>
              <a:rPr dirty="0" sz="1050" spc="-30">
                <a:solidFill>
                  <a:srgbClr val="161616"/>
                </a:solidFill>
                <a:latin typeface="Trebuchet MS"/>
                <a:cs typeface="Trebuchet MS"/>
              </a:rPr>
              <a:t>PROJ</a:t>
            </a:r>
            <a:r>
              <a:rPr dirty="0" sz="1050" spc="-17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050" spc="-25">
                <a:solidFill>
                  <a:srgbClr val="1C1C1C"/>
                </a:solidFill>
                <a:latin typeface="Trebuchet MS"/>
                <a:cs typeface="Trebuchet MS"/>
              </a:rPr>
              <a:t>ECT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6" y="770731"/>
            <a:ext cx="3968873" cy="60150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14433" y="1953776"/>
            <a:ext cx="3536315" cy="6273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950" spc="-235"/>
              <a:t>Project</a:t>
            </a:r>
            <a:r>
              <a:rPr dirty="0" sz="3950" spc="-40"/>
              <a:t> </a:t>
            </a:r>
            <a:r>
              <a:rPr dirty="0" sz="3950" spc="-160"/>
              <a:t>Overview</a:t>
            </a:r>
            <a:endParaRPr sz="3950"/>
          </a:p>
        </p:txBody>
      </p:sp>
      <p:sp>
        <p:nvSpPr>
          <p:cNvPr id="4" name="object 4" descr=""/>
          <p:cNvSpPr txBox="1"/>
          <p:nvPr/>
        </p:nvSpPr>
        <p:spPr>
          <a:xfrm>
            <a:off x="4791038" y="2833475"/>
            <a:ext cx="1803400" cy="129476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75"/>
              </a:spcBef>
            </a:pPr>
            <a:r>
              <a:rPr dirty="0" sz="1850">
                <a:solidFill>
                  <a:srgbClr val="1587DF"/>
                </a:solidFill>
                <a:latin typeface="Trebuchet MS"/>
                <a:cs typeface="Trebuchet MS"/>
              </a:rPr>
              <a:t>@</a:t>
            </a:r>
            <a:r>
              <a:rPr dirty="0" sz="1850" spc="290">
                <a:solidFill>
                  <a:srgbClr val="1587DF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82828"/>
                </a:solidFill>
                <a:latin typeface="Trebuchet MS"/>
                <a:cs typeface="Trebuchet MS"/>
              </a:rPr>
              <a:t>Objective</a:t>
            </a:r>
            <a:endParaRPr sz="1850">
              <a:latin typeface="Trebuchet MS"/>
              <a:cs typeface="Trebuchet MS"/>
            </a:endParaRPr>
          </a:p>
          <a:p>
            <a:pPr marL="12700" marR="5080" indent="4445">
              <a:lnSpc>
                <a:spcPct val="116599"/>
              </a:lnSpc>
              <a:spcBef>
                <a:spcPts val="495"/>
              </a:spcBef>
            </a:pPr>
            <a:r>
              <a:rPr dirty="0" sz="1500" spc="-125">
                <a:solidFill>
                  <a:srgbClr val="212121"/>
                </a:solidFill>
                <a:latin typeface="Trebuchet MS"/>
                <a:cs typeface="Trebuchet MS"/>
              </a:rPr>
              <a:t>Understand</a:t>
            </a:r>
            <a:r>
              <a:rPr dirty="0" sz="1500" spc="7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242424"/>
                </a:solidFill>
                <a:latin typeface="Trebuchet MS"/>
                <a:cs typeface="Trebuchet MS"/>
              </a:rPr>
              <a:t>customer </a:t>
            </a:r>
            <a:r>
              <a:rPr dirty="0" sz="1500" spc="-95">
                <a:solidFill>
                  <a:srgbClr val="212121"/>
                </a:solidFill>
                <a:latin typeface="Trebuchet MS"/>
                <a:cs typeface="Trebuchet MS"/>
              </a:rPr>
              <a:t>purchasing</a:t>
            </a:r>
            <a:r>
              <a:rPr dirty="0" sz="1500" spc="-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161616"/>
                </a:solidFill>
                <a:latin typeface="Trebuchet MS"/>
                <a:cs typeface="Trebuchet MS"/>
              </a:rPr>
              <a:t>patterns</a:t>
            </a:r>
            <a:r>
              <a:rPr dirty="0" sz="1500" spc="-4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262626"/>
                </a:solidFill>
                <a:latin typeface="Trebuchet MS"/>
                <a:cs typeface="Trebuchet MS"/>
              </a:rPr>
              <a:t>and </a:t>
            </a:r>
            <a:r>
              <a:rPr dirty="0" sz="1500" spc="-125">
                <a:solidFill>
                  <a:srgbClr val="1C1C1C"/>
                </a:solidFill>
                <a:latin typeface="Trebuchet MS"/>
                <a:cs typeface="Trebuchet MS"/>
              </a:rPr>
              <a:t>behaviour</a:t>
            </a:r>
            <a:r>
              <a:rPr dirty="0" sz="1500" spc="-1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95">
                <a:solidFill>
                  <a:srgbClr val="282828"/>
                </a:solidFill>
                <a:latin typeface="Trebuchet MS"/>
                <a:cs typeface="Trebuchet MS"/>
              </a:rPr>
              <a:t>through</a:t>
            </a:r>
            <a:r>
              <a:rPr dirty="0" sz="1500" spc="-3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1F1F1F"/>
                </a:solidFill>
                <a:latin typeface="Trebuchet MS"/>
                <a:cs typeface="Trebuchet MS"/>
              </a:rPr>
              <a:t>data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97129" y="4518538"/>
            <a:ext cx="4234180" cy="76136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75"/>
              </a:spcBef>
            </a:pPr>
            <a:r>
              <a:rPr dirty="0" sz="1850">
                <a:solidFill>
                  <a:srgbClr val="447487"/>
                </a:solidFill>
                <a:latin typeface="Trebuchet MS"/>
                <a:cs typeface="Trebuchet MS"/>
              </a:rPr>
              <a:t>g'</a:t>
            </a:r>
            <a:r>
              <a:rPr dirty="0" sz="1850" spc="170">
                <a:solidFill>
                  <a:srgbClr val="447487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B2B2B"/>
                </a:solidFill>
                <a:latin typeface="Trebuchet MS"/>
                <a:cs typeface="Trebuchet MS"/>
              </a:rPr>
              <a:t>Outcome</a:t>
            </a:r>
            <a:endParaRPr sz="1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500" spc="-114">
                <a:solidFill>
                  <a:srgbClr val="1F1F1F"/>
                </a:solidFill>
                <a:latin typeface="Trebuchet MS"/>
                <a:cs typeface="Trebuchet MS"/>
              </a:rPr>
              <a:t>Actionable</a:t>
            </a:r>
            <a:r>
              <a:rPr dirty="0" sz="1500" spc="-2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500" spc="-100">
                <a:solidFill>
                  <a:srgbClr val="161616"/>
                </a:solidFill>
                <a:latin typeface="Trebuchet MS"/>
                <a:cs typeface="Trebuchet MS"/>
              </a:rPr>
              <a:t>insights</a:t>
            </a:r>
            <a:r>
              <a:rPr dirty="0" sz="1500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232323"/>
                </a:solidFill>
                <a:latin typeface="Trebuchet MS"/>
                <a:cs typeface="Trebuchet MS"/>
              </a:rPr>
              <a:t>delivered</a:t>
            </a:r>
            <a:r>
              <a:rPr dirty="0" sz="1500" spc="4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B2B2B"/>
                </a:solidFill>
                <a:latin typeface="Trebuchet MS"/>
                <a:cs typeface="Trebuchet MS"/>
              </a:rPr>
              <a:t>via</a:t>
            </a:r>
            <a:r>
              <a:rPr dirty="0" sz="1500" spc="-6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313131"/>
                </a:solidFill>
                <a:latin typeface="Trebuchet MS"/>
                <a:cs typeface="Trebuchet MS"/>
              </a:rPr>
              <a:t>an</a:t>
            </a:r>
            <a:r>
              <a:rPr dirty="0" sz="1500" spc="-40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212121"/>
                </a:solidFill>
                <a:latin typeface="Trebuchet MS"/>
                <a:cs typeface="Trebuchet MS"/>
              </a:rPr>
              <a:t>interactive</a:t>
            </a:r>
            <a:r>
              <a:rPr dirty="0" sz="1500" spc="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65">
                <a:solidFill>
                  <a:srgbClr val="232323"/>
                </a:solidFill>
                <a:latin typeface="Trebuchet MS"/>
                <a:cs typeface="Trebuchet MS"/>
              </a:rPr>
              <a:t>dashboard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01408" y="2793563"/>
            <a:ext cx="2128520" cy="1330325"/>
          </a:xfrm>
          <a:prstGeom prst="rect">
            <a:avLst/>
          </a:prstGeom>
        </p:spPr>
        <p:txBody>
          <a:bodyPr wrap="square" lIns="0" tIns="176530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1390"/>
              </a:spcBef>
            </a:pPr>
            <a:r>
              <a:rPr dirty="0" sz="1850" spc="-250">
                <a:solidFill>
                  <a:srgbClr val="CD4B46"/>
                </a:solidFill>
                <a:latin typeface="Trebuchet MS"/>
                <a:cs typeface="Trebuchet MS"/>
              </a:rPr>
              <a:t>,|</a:t>
            </a:r>
            <a:r>
              <a:rPr dirty="0" sz="1850" spc="-25">
                <a:solidFill>
                  <a:srgbClr val="CD4B46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A2A2A"/>
                </a:solidFill>
                <a:latin typeface="Trebuchet MS"/>
                <a:cs typeface="Trebuchet MS"/>
              </a:rPr>
              <a:t>Approach</a:t>
            </a:r>
            <a:endParaRPr sz="1850">
              <a:latin typeface="Trebuchet MS"/>
              <a:cs typeface="Trebuchet MS"/>
            </a:endParaRPr>
          </a:p>
          <a:p>
            <a:pPr marL="12700" marR="5080" indent="5715">
              <a:lnSpc>
                <a:spcPct val="124900"/>
              </a:lnSpc>
              <a:spcBef>
                <a:spcPts val="540"/>
              </a:spcBef>
            </a:pPr>
            <a:r>
              <a:rPr dirty="0" sz="1350" spc="-85">
                <a:solidFill>
                  <a:srgbClr val="1F1F1F"/>
                </a:solidFill>
                <a:latin typeface="Trebuchet MS"/>
                <a:cs typeface="Trebuchet MS"/>
              </a:rPr>
              <a:t>Extract,</a:t>
            </a:r>
            <a:r>
              <a:rPr dirty="0" sz="1350" spc="-8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350" spc="-70">
                <a:solidFill>
                  <a:srgbClr val="212121"/>
                </a:solidFill>
                <a:latin typeface="Trebuchet MS"/>
                <a:cs typeface="Trebuchet MS"/>
              </a:rPr>
              <a:t>clean,</a:t>
            </a:r>
            <a:r>
              <a:rPr dirty="0" sz="1350" spc="-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1C1C1C"/>
                </a:solidFill>
                <a:latin typeface="Trebuchet MS"/>
                <a:cs typeface="Trebuchet MS"/>
              </a:rPr>
              <a:t>analyse,</a:t>
            </a:r>
            <a:r>
              <a:rPr dirty="0" sz="1350" spc="-7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350" spc="-25">
                <a:solidFill>
                  <a:srgbClr val="262626"/>
                </a:solidFill>
                <a:latin typeface="Trebuchet MS"/>
                <a:cs typeface="Trebuchet MS"/>
              </a:rPr>
              <a:t>and </a:t>
            </a:r>
            <a:r>
              <a:rPr dirty="0" sz="1450" spc="-70">
                <a:solidFill>
                  <a:srgbClr val="1A1A1A"/>
                </a:solidFill>
                <a:latin typeface="Trebuchet MS"/>
                <a:cs typeface="Trebuchet MS"/>
              </a:rPr>
              <a:t>visualise</a:t>
            </a:r>
            <a:r>
              <a:rPr dirty="0" sz="1450" spc="-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232323"/>
                </a:solidFill>
                <a:latin typeface="Trebuchet MS"/>
                <a:cs typeface="Trebuchet MS"/>
              </a:rPr>
              <a:t>customer</a:t>
            </a:r>
            <a:r>
              <a:rPr dirty="0" sz="1450" spc="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12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dirty="0" sz="1450" spc="-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313131"/>
                </a:solidFill>
                <a:latin typeface="Trebuchet MS"/>
                <a:cs typeface="Trebuchet MS"/>
              </a:rPr>
              <a:t>end- </a:t>
            </a:r>
            <a:r>
              <a:rPr dirty="0" sz="1350">
                <a:solidFill>
                  <a:srgbClr val="262626"/>
                </a:solidFill>
                <a:latin typeface="Trebuchet MS"/>
                <a:cs typeface="Trebuchet MS"/>
              </a:rPr>
              <a:t>to </a:t>
            </a:r>
            <a:r>
              <a:rPr dirty="0" sz="1350" spc="-25">
                <a:solidFill>
                  <a:srgbClr val="232323"/>
                </a:solidFill>
                <a:latin typeface="Trebuchet MS"/>
                <a:cs typeface="Trebuchet MS"/>
              </a:rPr>
              <a:t>end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68" y="5100549"/>
            <a:ext cx="85352" cy="161479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368" y="3309043"/>
            <a:ext cx="85352" cy="162088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1368" y="1529723"/>
            <a:ext cx="85352" cy="16086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54144" y="2413290"/>
            <a:ext cx="5066257" cy="30650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4681" y="698455"/>
            <a:ext cx="26543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75"/>
              <a:t>The</a:t>
            </a:r>
            <a:r>
              <a:rPr dirty="0" sz="4000" spc="-254"/>
              <a:t> </a:t>
            </a:r>
            <a:r>
              <a:rPr dirty="0" sz="4000" spc="-135"/>
              <a:t>Problem</a:t>
            </a:r>
            <a:endParaRPr sz="4000"/>
          </a:p>
        </p:txBody>
      </p:sp>
      <p:sp>
        <p:nvSpPr>
          <p:cNvPr id="7" name="object 7" descr=""/>
          <p:cNvSpPr txBox="1"/>
          <p:nvPr/>
        </p:nvSpPr>
        <p:spPr>
          <a:xfrm>
            <a:off x="850947" y="1668854"/>
            <a:ext cx="2583815" cy="481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2F2F2F"/>
                </a:solidFill>
                <a:latin typeface="Trebuchet MS"/>
                <a:cs typeface="Trebuchet MS"/>
              </a:rPr>
              <a:t>Blind</a:t>
            </a:r>
            <a:r>
              <a:rPr dirty="0" sz="1900" spc="-114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900" spc="-10">
                <a:solidFill>
                  <a:srgbClr val="262626"/>
                </a:solidFill>
                <a:latin typeface="Trebuchet MS"/>
                <a:cs typeface="Trebuchet MS"/>
              </a:rPr>
              <a:t>Decisions</a:t>
            </a:r>
            <a:endParaRPr sz="1900">
              <a:latin typeface="Trebuchet MS"/>
              <a:cs typeface="Trebuchet MS"/>
            </a:endParaRPr>
          </a:p>
          <a:p>
            <a:pPr algn="just" marL="14604" marR="122555" indent="-1905">
              <a:lnSpc>
                <a:spcPct val="115300"/>
              </a:lnSpc>
              <a:spcBef>
                <a:spcPts val="1055"/>
              </a:spcBef>
            </a:pPr>
            <a:r>
              <a:rPr dirty="0" sz="1500" spc="-90">
                <a:solidFill>
                  <a:srgbClr val="1C1C1C"/>
                </a:solidFill>
                <a:latin typeface="Trebuchet MS"/>
                <a:cs typeface="Trebuchet MS"/>
              </a:rPr>
              <a:t>Businesses</a:t>
            </a:r>
            <a:r>
              <a:rPr dirty="0" sz="1500" spc="2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131313"/>
                </a:solidFill>
                <a:latin typeface="Trebuchet MS"/>
                <a:cs typeface="Trebuchet MS"/>
              </a:rPr>
              <a:t>operate</a:t>
            </a:r>
            <a:r>
              <a:rPr dirty="0" sz="1500" spc="95">
                <a:solidFill>
                  <a:srgbClr val="131313"/>
                </a:solidFill>
                <a:latin typeface="Trebuchet MS"/>
                <a:cs typeface="Trebuchet MS"/>
              </a:rPr>
              <a:t> </a:t>
            </a:r>
            <a:r>
              <a:rPr dirty="0" sz="1500" spc="-145">
                <a:solidFill>
                  <a:srgbClr val="2D2D2D"/>
                </a:solidFill>
                <a:latin typeface="Trebuchet MS"/>
                <a:cs typeface="Trebuchet MS"/>
              </a:rPr>
              <a:t>without</a:t>
            </a:r>
            <a:r>
              <a:rPr dirty="0" sz="1500" spc="3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500" spc="-50">
                <a:solidFill>
                  <a:srgbClr val="212121"/>
                </a:solidFill>
                <a:latin typeface="Trebuchet MS"/>
                <a:cs typeface="Trebuchet MS"/>
              </a:rPr>
              <a:t>clear </a:t>
            </a:r>
            <a:r>
              <a:rPr dirty="0" sz="1500" spc="-110">
                <a:solidFill>
                  <a:srgbClr val="1D1D1D"/>
                </a:solidFill>
                <a:latin typeface="Trebuchet MS"/>
                <a:cs typeface="Trebuchet MS"/>
              </a:rPr>
              <a:t>visibility</a:t>
            </a:r>
            <a:r>
              <a:rPr dirty="0" sz="1500" spc="105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1500" spc="-165">
                <a:solidFill>
                  <a:srgbClr val="2D2D2D"/>
                </a:solidFill>
                <a:latin typeface="Trebuchet MS"/>
                <a:cs typeface="Trebuchet MS"/>
              </a:rPr>
              <a:t>into</a:t>
            </a:r>
            <a:r>
              <a:rPr dirty="0" sz="1500" spc="5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2B2B2B"/>
                </a:solidFill>
                <a:latin typeface="Trebuchet MS"/>
                <a:cs typeface="Trebuchet MS"/>
              </a:rPr>
              <a:t>customer</a:t>
            </a:r>
            <a:r>
              <a:rPr dirty="0" sz="1500" spc="5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161616"/>
                </a:solidFill>
                <a:latin typeface="Trebuchet MS"/>
                <a:cs typeface="Trebuchet MS"/>
              </a:rPr>
              <a:t>behaviour </a:t>
            </a:r>
            <a:r>
              <a:rPr dirty="0" sz="1500" spc="-95">
                <a:solidFill>
                  <a:srgbClr val="333333"/>
                </a:solidFill>
                <a:latin typeface="Trebuchet MS"/>
                <a:cs typeface="Trebuchet MS"/>
              </a:rPr>
              <a:t>or</a:t>
            </a:r>
            <a:r>
              <a:rPr dirty="0" sz="1500" spc="-12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212121"/>
                </a:solidFill>
                <a:latin typeface="Trebuchet MS"/>
                <a:cs typeface="Trebuchet MS"/>
              </a:rPr>
              <a:t>preferences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50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</a:pPr>
            <a:r>
              <a:rPr dirty="0" sz="1850">
                <a:solidFill>
                  <a:srgbClr val="262626"/>
                </a:solidFill>
                <a:latin typeface="Trebuchet MS"/>
                <a:cs typeface="Trebuchet MS"/>
              </a:rPr>
              <a:t>Revenue</a:t>
            </a:r>
            <a:r>
              <a:rPr dirty="0" sz="1850" spc="-14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212121"/>
                </a:solidFill>
                <a:latin typeface="Trebuchet MS"/>
                <a:cs typeface="Trebuchet MS"/>
              </a:rPr>
              <a:t>Leakage</a:t>
            </a:r>
            <a:endParaRPr sz="1850">
              <a:latin typeface="Trebuchet MS"/>
              <a:cs typeface="Trebuchet MS"/>
            </a:endParaRPr>
          </a:p>
          <a:p>
            <a:pPr marL="14604" marR="20320" indent="4445">
              <a:lnSpc>
                <a:spcPct val="115999"/>
              </a:lnSpc>
              <a:spcBef>
                <a:spcPts val="1055"/>
              </a:spcBef>
            </a:pPr>
            <a:r>
              <a:rPr dirty="0" sz="1500" spc="-140">
                <a:solidFill>
                  <a:srgbClr val="2A2A2A"/>
                </a:solidFill>
                <a:latin typeface="Trebuchet MS"/>
                <a:cs typeface="Trebuchet MS"/>
              </a:rPr>
              <a:t>Without</a:t>
            </a:r>
            <a:r>
              <a:rPr dirty="0" sz="1500" spc="1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62626"/>
                </a:solidFill>
                <a:latin typeface="Trebuchet MS"/>
                <a:cs typeface="Trebuchet MS"/>
              </a:rPr>
              <a:t>data-</a:t>
            </a:r>
            <a:r>
              <a:rPr dirty="0" sz="1500" spc="-125">
                <a:solidFill>
                  <a:srgbClr val="262626"/>
                </a:solidFill>
                <a:latin typeface="Trebuchet MS"/>
                <a:cs typeface="Trebuchet MS"/>
              </a:rPr>
              <a:t>driven</a:t>
            </a:r>
            <a:r>
              <a:rPr dirty="0" sz="1500" spc="9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105">
                <a:solidFill>
                  <a:srgbClr val="2A2A2A"/>
                </a:solidFill>
                <a:latin typeface="Trebuchet MS"/>
                <a:cs typeface="Trebuchet MS"/>
              </a:rPr>
              <a:t>insights,</a:t>
            </a:r>
            <a:r>
              <a:rPr dirty="0" sz="1500" spc="-14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00" spc="-40">
                <a:solidFill>
                  <a:srgbClr val="2A2A2A"/>
                </a:solidFill>
                <a:latin typeface="Trebuchet MS"/>
                <a:cs typeface="Trebuchet MS"/>
              </a:rPr>
              <a:t>high- </a:t>
            </a:r>
            <a:r>
              <a:rPr dirty="0" sz="1500" spc="-135">
                <a:solidFill>
                  <a:srgbClr val="212121"/>
                </a:solidFill>
                <a:latin typeface="Trebuchet MS"/>
                <a:cs typeface="Trebuchet MS"/>
              </a:rPr>
              <a:t>value</a:t>
            </a:r>
            <a:r>
              <a:rPr dirty="0" sz="1500" spc="-4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110">
                <a:solidFill>
                  <a:srgbClr val="262626"/>
                </a:solidFill>
                <a:latin typeface="Trebuchet MS"/>
                <a:cs typeface="Trebuchet MS"/>
              </a:rPr>
              <a:t>segments</a:t>
            </a:r>
            <a:r>
              <a:rPr dirty="0" sz="1500" spc="-3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383838"/>
                </a:solidFill>
                <a:latin typeface="Trebuchet MS"/>
                <a:cs typeface="Trebuchet MS"/>
              </a:rPr>
              <a:t>and</a:t>
            </a:r>
            <a:r>
              <a:rPr dirty="0" sz="1500" spc="-85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1C1C1C"/>
                </a:solidFill>
                <a:latin typeface="Trebuchet MS"/>
                <a:cs typeface="Trebuchet MS"/>
              </a:rPr>
              <a:t>growth </a:t>
            </a:r>
            <a:r>
              <a:rPr dirty="0" sz="1500" spc="-105">
                <a:solidFill>
                  <a:srgbClr val="262626"/>
                </a:solidFill>
                <a:latin typeface="Trebuchet MS"/>
                <a:cs typeface="Trebuchet MS"/>
              </a:rPr>
              <a:t>opportunities</a:t>
            </a:r>
            <a:r>
              <a:rPr dirty="0" sz="1500" spc="-2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1A1A1A"/>
                </a:solidFill>
                <a:latin typeface="Trebuchet MS"/>
                <a:cs typeface="Trebuchet MS"/>
              </a:rPr>
              <a:t>go</a:t>
            </a:r>
            <a:r>
              <a:rPr dirty="0" sz="1500" spc="-10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500" spc="-30">
                <a:solidFill>
                  <a:srgbClr val="212121"/>
                </a:solidFill>
                <a:latin typeface="Trebuchet MS"/>
                <a:cs typeface="Trebuchet MS"/>
              </a:rPr>
              <a:t>undetected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50" spc="-50">
                <a:solidFill>
                  <a:srgbClr val="2D2D2D"/>
                </a:solidFill>
                <a:latin typeface="Trebuchet MS"/>
                <a:cs typeface="Trebuchet MS"/>
              </a:rPr>
              <a:t>The</a:t>
            </a:r>
            <a:r>
              <a:rPr dirty="0" sz="1850" spc="-9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850" spc="-10">
                <a:solidFill>
                  <a:srgbClr val="1C1C1C"/>
                </a:solidFill>
                <a:latin typeface="Trebuchet MS"/>
                <a:cs typeface="Trebuchet MS"/>
              </a:rPr>
              <a:t>Solution</a:t>
            </a:r>
            <a:endParaRPr sz="1850">
              <a:latin typeface="Trebuchet MS"/>
              <a:cs typeface="Trebuchet MS"/>
            </a:endParaRPr>
          </a:p>
          <a:p>
            <a:pPr marL="13335" marR="5080" indent="635">
              <a:lnSpc>
                <a:spcPct val="117300"/>
              </a:lnSpc>
              <a:spcBef>
                <a:spcPts val="1035"/>
              </a:spcBef>
            </a:pPr>
            <a:r>
              <a:rPr dirty="0" sz="1500" spc="-150">
                <a:solidFill>
                  <a:srgbClr val="2B2B2B"/>
                </a:solidFill>
                <a:latin typeface="Trebuchet MS"/>
                <a:cs typeface="Trebuchet MS"/>
              </a:rPr>
              <a:t>A</a:t>
            </a:r>
            <a:r>
              <a:rPr dirty="0" sz="1500" spc="-13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1A1A1A"/>
                </a:solidFill>
                <a:latin typeface="Trebuchet MS"/>
                <a:cs typeface="Trebuchet MS"/>
              </a:rPr>
              <a:t>structured</a:t>
            </a:r>
            <a:r>
              <a:rPr dirty="0" sz="1500" spc="-3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500" spc="-110">
                <a:solidFill>
                  <a:srgbClr val="1A1A1A"/>
                </a:solidFill>
                <a:latin typeface="Trebuchet MS"/>
                <a:cs typeface="Trebuchet MS"/>
              </a:rPr>
              <a:t>analytics</a:t>
            </a:r>
            <a:r>
              <a:rPr dirty="0" sz="1500" spc="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1C1C1C"/>
                </a:solidFill>
                <a:latin typeface="Trebuchet MS"/>
                <a:cs typeface="Trebuchet MS"/>
              </a:rPr>
              <a:t>pipeline</a:t>
            </a:r>
            <a:r>
              <a:rPr dirty="0" sz="1500" spc="-4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80">
                <a:solidFill>
                  <a:srgbClr val="111111"/>
                </a:solidFill>
                <a:latin typeface="Trebuchet MS"/>
                <a:cs typeface="Trebuchet MS"/>
              </a:rPr>
              <a:t>that </a:t>
            </a:r>
            <a:r>
              <a:rPr dirty="0" sz="1500" spc="-100">
                <a:solidFill>
                  <a:srgbClr val="282828"/>
                </a:solidFill>
                <a:latin typeface="Trebuchet MS"/>
                <a:cs typeface="Trebuchet MS"/>
              </a:rPr>
              <a:t>turns</a:t>
            </a:r>
            <a:r>
              <a:rPr dirty="0" sz="1500" spc="-8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00" spc="-150">
                <a:solidFill>
                  <a:srgbClr val="313131"/>
                </a:solidFill>
                <a:latin typeface="Trebuchet MS"/>
                <a:cs typeface="Trebuchet MS"/>
              </a:rPr>
              <a:t>raw</a:t>
            </a:r>
            <a:r>
              <a:rPr dirty="0" sz="1500" spc="-85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1500" spc="-145">
                <a:solidFill>
                  <a:srgbClr val="232323"/>
                </a:solidFill>
                <a:latin typeface="Trebuchet MS"/>
                <a:cs typeface="Trebuchet MS"/>
              </a:rPr>
              <a:t>data</a:t>
            </a:r>
            <a:r>
              <a:rPr dirty="0" sz="1500" spc="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130">
                <a:solidFill>
                  <a:srgbClr val="333333"/>
                </a:solidFill>
                <a:latin typeface="Trebuchet MS"/>
                <a:cs typeface="Trebuchet MS"/>
              </a:rPr>
              <a:t>into</a:t>
            </a:r>
            <a:r>
              <a:rPr dirty="0" sz="1500" spc="-8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500" spc="-10">
                <a:solidFill>
                  <a:srgbClr val="232323"/>
                </a:solidFill>
                <a:latin typeface="Trebuchet MS"/>
                <a:cs typeface="Trebuchet MS"/>
              </a:rPr>
              <a:t>actionable </a:t>
            </a:r>
            <a:r>
              <a:rPr dirty="0" sz="1500" spc="-50">
                <a:solidFill>
                  <a:srgbClr val="232323"/>
                </a:solidFill>
                <a:latin typeface="Trebuchet MS"/>
                <a:cs typeface="Trebuchet MS"/>
              </a:rPr>
              <a:t>intelligence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905" y="2186120"/>
            <a:ext cx="4290695" cy="6045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00" spc="-135"/>
              <a:t>Tools</a:t>
            </a:r>
            <a:r>
              <a:rPr dirty="0" sz="3800" spc="-355"/>
              <a:t> </a:t>
            </a:r>
            <a:r>
              <a:rPr dirty="0" sz="3800" spc="-250"/>
              <a:t>&amp;</a:t>
            </a:r>
            <a:r>
              <a:rPr dirty="0" sz="3800" spc="-295"/>
              <a:t> </a:t>
            </a:r>
            <a:r>
              <a:rPr dirty="0" sz="3800" spc="-80"/>
              <a:t>Technologies</a:t>
            </a:r>
            <a:endParaRPr sz="3800"/>
          </a:p>
        </p:txBody>
      </p:sp>
      <p:sp>
        <p:nvSpPr>
          <p:cNvPr id="3" name="object 3" descr=""/>
          <p:cNvSpPr txBox="1"/>
          <p:nvPr/>
        </p:nvSpPr>
        <p:spPr>
          <a:xfrm>
            <a:off x="1255414" y="2977779"/>
            <a:ext cx="3829685" cy="224917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28575">
              <a:lnSpc>
                <a:spcPct val="100000"/>
              </a:lnSpc>
              <a:spcBef>
                <a:spcPts val="1120"/>
              </a:spcBef>
            </a:pPr>
            <a:r>
              <a:rPr dirty="0" sz="1700" spc="-25">
                <a:solidFill>
                  <a:srgbClr val="242424"/>
                </a:solidFill>
                <a:latin typeface="Trebuchet MS"/>
                <a:cs typeface="Trebuchet MS"/>
              </a:rPr>
              <a:t>SQL</a:t>
            </a:r>
            <a:endParaRPr sz="1700">
              <a:latin typeface="Trebuchet MS"/>
              <a:cs typeface="Trebuchet MS"/>
            </a:endParaRPr>
          </a:p>
          <a:p>
            <a:pPr marL="29845" marR="302895" indent="-635">
              <a:lnSpc>
                <a:spcPct val="121300"/>
              </a:lnSpc>
              <a:spcBef>
                <a:spcPts val="505"/>
              </a:spcBef>
            </a:pPr>
            <a:r>
              <a:rPr dirty="0" sz="1450" spc="-125">
                <a:solidFill>
                  <a:srgbClr val="131313"/>
                </a:solidFill>
                <a:latin typeface="Trebuchet MS"/>
                <a:cs typeface="Trebuchet MS"/>
              </a:rPr>
              <a:t>Data</a:t>
            </a:r>
            <a:r>
              <a:rPr dirty="0" sz="1450" spc="-10">
                <a:solidFill>
                  <a:srgbClr val="131313"/>
                </a:solidFill>
                <a:latin typeface="Trebuchet MS"/>
                <a:cs typeface="Trebuchet MS"/>
              </a:rPr>
              <a:t> </a:t>
            </a:r>
            <a:r>
              <a:rPr dirty="0" sz="1450" spc="-114">
                <a:solidFill>
                  <a:srgbClr val="1A1A1A"/>
                </a:solidFill>
                <a:latin typeface="Trebuchet MS"/>
                <a:cs typeface="Trebuchet MS"/>
              </a:rPr>
              <a:t>extraction,</a:t>
            </a:r>
            <a:r>
              <a:rPr dirty="0" sz="1450" spc="-45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50" spc="-105">
                <a:solidFill>
                  <a:srgbClr val="232323"/>
                </a:solidFill>
                <a:latin typeface="Trebuchet MS"/>
                <a:cs typeface="Trebuchet MS"/>
              </a:rPr>
              <a:t>filtering,</a:t>
            </a:r>
            <a:r>
              <a:rPr dirty="0" sz="1450" spc="-20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75">
                <a:solidFill>
                  <a:srgbClr val="2A2A2A"/>
                </a:solidFill>
                <a:latin typeface="Trebuchet MS"/>
                <a:cs typeface="Trebuchet MS"/>
              </a:rPr>
              <a:t>joins</a:t>
            </a:r>
            <a:r>
              <a:rPr dirty="0" sz="1450" spc="-12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50" spc="-140">
                <a:solidFill>
                  <a:srgbClr val="343434"/>
                </a:solidFill>
                <a:latin typeface="Trebuchet MS"/>
                <a:cs typeface="Trebuchet MS"/>
              </a:rPr>
              <a:t>&amp;</a:t>
            </a:r>
            <a:r>
              <a:rPr dirty="0" sz="1450" spc="-125">
                <a:solidFill>
                  <a:srgbClr val="343434"/>
                </a:solidFill>
                <a:latin typeface="Trebuchet MS"/>
                <a:cs typeface="Trebuchet MS"/>
              </a:rPr>
              <a:t> </a:t>
            </a:r>
            <a:r>
              <a:rPr dirty="0" sz="1450" spc="-80">
                <a:solidFill>
                  <a:srgbClr val="232323"/>
                </a:solidFill>
                <a:latin typeface="Trebuchet MS"/>
                <a:cs typeface="Trebuchet MS"/>
              </a:rPr>
              <a:t>aggregation</a:t>
            </a:r>
            <a:r>
              <a:rPr dirty="0" sz="1450" spc="10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55">
                <a:solidFill>
                  <a:srgbClr val="161616"/>
                </a:solidFill>
                <a:latin typeface="Trebuchet MS"/>
                <a:cs typeface="Trebuchet MS"/>
              </a:rPr>
              <a:t>via </a:t>
            </a:r>
            <a:r>
              <a:rPr dirty="0" sz="1450" spc="-10">
                <a:solidFill>
                  <a:srgbClr val="1F1F1F"/>
                </a:solidFill>
                <a:latin typeface="Trebuchet MS"/>
                <a:cs typeface="Trebuchet MS"/>
              </a:rPr>
              <a:t>CodeWeSQL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C1C1C"/>
                </a:solidFill>
                <a:latin typeface="Trebuchet MS"/>
                <a:cs typeface="Trebuchet MS"/>
              </a:rPr>
              <a:t>3upyter</a:t>
            </a:r>
            <a:r>
              <a:rPr dirty="0" sz="1800" spc="-11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32323"/>
                </a:solidFill>
                <a:latin typeface="Trebuchet MS"/>
                <a:cs typeface="Trebuchet MS"/>
              </a:rPr>
              <a:t>Notebook</a:t>
            </a:r>
            <a:endParaRPr sz="1800">
              <a:latin typeface="Trebuchet MS"/>
              <a:cs typeface="Trebuchet MS"/>
            </a:endParaRPr>
          </a:p>
          <a:p>
            <a:pPr marL="30480" marR="5080" indent="-3175">
              <a:lnSpc>
                <a:spcPct val="130300"/>
              </a:lnSpc>
              <a:spcBef>
                <a:spcPts val="440"/>
              </a:spcBef>
            </a:pPr>
            <a:r>
              <a:rPr dirty="0" sz="1350" spc="-60">
                <a:solidFill>
                  <a:srgbClr val="212121"/>
                </a:solidFill>
                <a:latin typeface="Trebuchet MS"/>
                <a:cs typeface="Trebuchet MS"/>
              </a:rPr>
              <a:t>Interactive</a:t>
            </a:r>
            <a:r>
              <a:rPr dirty="0" sz="1350" spc="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262626"/>
                </a:solidFill>
                <a:latin typeface="Trebuchet MS"/>
                <a:cs typeface="Trebuchet MS"/>
              </a:rPr>
              <a:t>environment</a:t>
            </a:r>
            <a:r>
              <a:rPr dirty="0" sz="1350" spc="-1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350" spc="-70">
                <a:solidFill>
                  <a:srgbClr val="333333"/>
                </a:solidFill>
                <a:latin typeface="Trebuchet MS"/>
                <a:cs typeface="Trebuchet MS"/>
              </a:rPr>
              <a:t>for</a:t>
            </a:r>
            <a:r>
              <a:rPr dirty="0" sz="1350" spc="-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262626"/>
                </a:solidFill>
                <a:latin typeface="Trebuchet MS"/>
                <a:cs typeface="Trebuchet MS"/>
              </a:rPr>
              <a:t>analysis,</a:t>
            </a:r>
            <a:r>
              <a:rPr dirty="0" sz="1350" spc="-2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212121"/>
                </a:solidFill>
                <a:latin typeface="Trebuchet MS"/>
                <a:cs typeface="Trebuchet MS"/>
              </a:rPr>
              <a:t>visualisation</a:t>
            </a:r>
            <a:r>
              <a:rPr dirty="0" sz="13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212121"/>
                </a:solidFill>
                <a:latin typeface="Trebuchet MS"/>
                <a:cs typeface="Trebuchet MS"/>
              </a:rPr>
              <a:t>&amp; </a:t>
            </a:r>
            <a:r>
              <a:rPr dirty="0" sz="1350" spc="-10">
                <a:solidFill>
                  <a:srgbClr val="282828"/>
                </a:solidFill>
                <a:latin typeface="Trebuchet MS"/>
                <a:cs typeface="Trebuchet MS"/>
              </a:rPr>
              <a:t>documentation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07257" y="2945181"/>
            <a:ext cx="3791585" cy="228346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205"/>
              </a:spcBef>
            </a:pPr>
            <a:r>
              <a:rPr dirty="0" sz="1850" spc="-10">
                <a:solidFill>
                  <a:srgbClr val="2A2A2A"/>
                </a:solidFill>
                <a:latin typeface="Trebuchet MS"/>
                <a:cs typeface="Trebuchet MS"/>
              </a:rPr>
              <a:t>Python</a:t>
            </a:r>
            <a:endParaRPr sz="1850">
              <a:latin typeface="Trebuchet MS"/>
              <a:cs typeface="Trebuchet MS"/>
            </a:endParaRPr>
          </a:p>
          <a:p>
            <a:pPr marL="12700" marR="830580" indent="5715">
              <a:lnSpc>
                <a:spcPct val="121300"/>
              </a:lnSpc>
              <a:spcBef>
                <a:spcPts val="495"/>
              </a:spcBef>
            </a:pPr>
            <a:r>
              <a:rPr dirty="0" sz="1450" spc="-90">
                <a:solidFill>
                  <a:srgbClr val="242424"/>
                </a:solidFill>
                <a:latin typeface="Trebuchet MS"/>
                <a:cs typeface="Trebuchet MS"/>
              </a:rPr>
              <a:t>Pandas</a:t>
            </a:r>
            <a:r>
              <a:rPr dirty="0" sz="1450" spc="-7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50" spc="-140">
                <a:solidFill>
                  <a:srgbClr val="2D2D2D"/>
                </a:solidFill>
                <a:latin typeface="Trebuchet MS"/>
                <a:cs typeface="Trebuchet MS"/>
              </a:rPr>
              <a:t>&amp; </a:t>
            </a:r>
            <a:r>
              <a:rPr dirty="0" sz="1450" spc="-75">
                <a:solidFill>
                  <a:srgbClr val="2F2F2F"/>
                </a:solidFill>
                <a:latin typeface="Trebuchet MS"/>
                <a:cs typeface="Trebuchet MS"/>
              </a:rPr>
              <a:t>NumPy</a:t>
            </a:r>
            <a:r>
              <a:rPr dirty="0" sz="1450" spc="-35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450" spc="-105">
                <a:solidFill>
                  <a:srgbClr val="383838"/>
                </a:solidFill>
                <a:latin typeface="Trebuchet MS"/>
                <a:cs typeface="Trebuchet MS"/>
              </a:rPr>
              <a:t>for</a:t>
            </a:r>
            <a:r>
              <a:rPr dirty="0" sz="1450" spc="-65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450" spc="-135">
                <a:solidFill>
                  <a:srgbClr val="262626"/>
                </a:solidFill>
                <a:latin typeface="Trebuchet MS"/>
                <a:cs typeface="Trebuchet MS"/>
              </a:rPr>
              <a:t>data</a:t>
            </a:r>
            <a:r>
              <a:rPr dirty="0" sz="1450" spc="1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80">
                <a:solidFill>
                  <a:srgbClr val="242424"/>
                </a:solidFill>
                <a:latin typeface="Trebuchet MS"/>
                <a:cs typeface="Trebuchet MS"/>
              </a:rPr>
              <a:t>wrangling</a:t>
            </a:r>
            <a:r>
              <a:rPr dirty="0" sz="1450" spc="-1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2F2F2F"/>
                </a:solidFill>
                <a:latin typeface="Trebuchet MS"/>
                <a:cs typeface="Trebuchet MS"/>
              </a:rPr>
              <a:t>and </a:t>
            </a:r>
            <a:r>
              <a:rPr dirty="0" sz="1450" spc="-10">
                <a:solidFill>
                  <a:srgbClr val="212121"/>
                </a:solidFill>
                <a:latin typeface="Trebuchet MS"/>
                <a:cs typeface="Trebuchet MS"/>
              </a:rPr>
              <a:t>transformation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450">
              <a:latin typeface="Trebuchet MS"/>
              <a:cs typeface="Trebuchet MS"/>
            </a:endParaRPr>
          </a:p>
          <a:p>
            <a:pPr marL="16510">
              <a:lnSpc>
                <a:spcPct val="100000"/>
              </a:lnSpc>
            </a:pPr>
            <a:r>
              <a:rPr dirty="0" sz="1650" spc="95">
                <a:solidFill>
                  <a:srgbClr val="2D2D2D"/>
                </a:solidFill>
                <a:latin typeface="Trebuchet MS"/>
                <a:cs typeface="Trebuchet MS"/>
              </a:rPr>
              <a:t>Power</a:t>
            </a:r>
            <a:r>
              <a:rPr dirty="0" sz="1650" spc="5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363636"/>
                </a:solidFill>
                <a:latin typeface="Trebuchet MS"/>
                <a:cs typeface="Trebuchet MS"/>
              </a:rPr>
              <a:t>BI</a:t>
            </a:r>
            <a:r>
              <a:rPr dirty="0" sz="1650" spc="-105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1650" spc="90">
                <a:solidFill>
                  <a:srgbClr val="212121"/>
                </a:solidFill>
                <a:latin typeface="Trebuchet MS"/>
                <a:cs typeface="Trebuchet MS"/>
              </a:rPr>
              <a:t>/</a:t>
            </a:r>
            <a:r>
              <a:rPr dirty="0" sz="1650" spc="-2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650" spc="40">
                <a:solidFill>
                  <a:srgbClr val="282828"/>
                </a:solidFill>
                <a:latin typeface="Trebuchet MS"/>
                <a:cs typeface="Trebuchet MS"/>
              </a:rPr>
              <a:t>Tableau</a:t>
            </a:r>
            <a:endParaRPr sz="1650">
              <a:latin typeface="Trebuchet MS"/>
              <a:cs typeface="Trebuchet MS"/>
            </a:endParaRPr>
          </a:p>
          <a:p>
            <a:pPr marL="12700" marR="5080" indent="2540">
              <a:lnSpc>
                <a:spcPct val="125699"/>
              </a:lnSpc>
              <a:spcBef>
                <a:spcPts val="475"/>
              </a:spcBef>
            </a:pPr>
            <a:r>
              <a:rPr dirty="0" sz="1400" spc="-85">
                <a:solidFill>
                  <a:srgbClr val="262626"/>
                </a:solidFill>
                <a:latin typeface="Trebuchet MS"/>
                <a:cs typeface="Trebuchet MS"/>
              </a:rPr>
              <a:t>Interactive</a:t>
            </a:r>
            <a:r>
              <a:rPr dirty="0" sz="1400" spc="4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35">
                <a:solidFill>
                  <a:srgbClr val="2D2D2D"/>
                </a:solidFill>
                <a:latin typeface="Trebuchet MS"/>
                <a:cs typeface="Trebuchet MS"/>
              </a:rPr>
              <a:t>dashboards</a:t>
            </a:r>
            <a:r>
              <a:rPr dirty="0" sz="1400" spc="6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333333"/>
                </a:solidFill>
                <a:latin typeface="Trebuchet MS"/>
                <a:cs typeface="Trebuchet MS"/>
              </a:rPr>
              <a:t>with</a:t>
            </a:r>
            <a:r>
              <a:rPr dirty="0" sz="1400" spc="-4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A2A2A"/>
                </a:solidFill>
                <a:latin typeface="Trebuchet MS"/>
                <a:cs typeface="Trebuchet MS"/>
              </a:rPr>
              <a:t>dynamic</a:t>
            </a:r>
            <a:r>
              <a:rPr dirty="0" sz="1400" spc="-2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85">
                <a:solidFill>
                  <a:srgbClr val="1D1D1D"/>
                </a:solidFill>
                <a:latin typeface="Trebuchet MS"/>
                <a:cs typeface="Trebuchet MS"/>
              </a:rPr>
              <a:t>filters</a:t>
            </a:r>
            <a:r>
              <a:rPr dirty="0" sz="1400" spc="15">
                <a:solidFill>
                  <a:srgbClr val="1D1D1D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B2B2B"/>
                </a:solidFill>
                <a:latin typeface="Trebuchet MS"/>
                <a:cs typeface="Trebuchet MS"/>
              </a:rPr>
              <a:t>and</a:t>
            </a:r>
            <a:r>
              <a:rPr dirty="0" sz="1400" spc="-2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282828"/>
                </a:solidFill>
                <a:latin typeface="Trebuchet MS"/>
                <a:cs typeface="Trebuchet MS"/>
              </a:rPr>
              <a:t>KPI </a:t>
            </a:r>
            <a:r>
              <a:rPr dirty="0" sz="1400" spc="-10">
                <a:solidFill>
                  <a:srgbClr val="2A2A2A"/>
                </a:solidFill>
                <a:latin typeface="Trebuchet MS"/>
                <a:cs typeface="Trebuchet MS"/>
              </a:rPr>
              <a:t>tracking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683" y="2440558"/>
            <a:ext cx="7072031" cy="1858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5210" y="1351713"/>
            <a:ext cx="2775585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 spc="-10"/>
              <a:t>Data</a:t>
            </a:r>
            <a:r>
              <a:rPr dirty="0" sz="3700" spc="-245"/>
              <a:t> </a:t>
            </a:r>
            <a:r>
              <a:rPr dirty="0" sz="3700" spc="-25"/>
              <a:t>Pipeline</a:t>
            </a:r>
            <a:endParaRPr sz="3700"/>
          </a:p>
        </p:txBody>
      </p:sp>
      <p:sp>
        <p:nvSpPr>
          <p:cNvPr id="4" name="object 4" descr=""/>
          <p:cNvSpPr txBox="1"/>
          <p:nvPr/>
        </p:nvSpPr>
        <p:spPr>
          <a:xfrm>
            <a:off x="2385729" y="4835600"/>
            <a:ext cx="7245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A2A2A"/>
                </a:solidFill>
                <a:latin typeface="Trebuchet MS"/>
                <a:cs typeface="Trebuchet MS"/>
              </a:rPr>
              <a:t>Extract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28181" y="4835600"/>
            <a:ext cx="5727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D2D2D"/>
                </a:solidFill>
                <a:latin typeface="Trebuchet MS"/>
                <a:cs typeface="Trebuchet MS"/>
              </a:rPr>
              <a:t>Clean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46429" y="4835600"/>
            <a:ext cx="801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2F2F2F"/>
                </a:solidFill>
                <a:latin typeface="Arial MT"/>
                <a:cs typeface="Arial MT"/>
              </a:rPr>
              <a:t>Analyse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40040" y="4841948"/>
            <a:ext cx="88900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10">
                <a:solidFill>
                  <a:srgbClr val="2F2F2F"/>
                </a:solidFill>
                <a:latin typeface="Arial MT"/>
                <a:cs typeface="Arial MT"/>
              </a:rPr>
              <a:t>Visualise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8803" y="5845724"/>
            <a:ext cx="88722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25">
                <a:solidFill>
                  <a:srgbClr val="2D2D2D"/>
                </a:solidFill>
                <a:latin typeface="Trebuchet MS"/>
                <a:cs typeface="Trebuchet MS"/>
              </a:rPr>
              <a:t>A</a:t>
            </a:r>
            <a:r>
              <a:rPr dirty="0" sz="1400" spc="-114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1C1C1C"/>
                </a:solidFill>
                <a:latin typeface="Trebuchet MS"/>
                <a:cs typeface="Trebuchet MS"/>
              </a:rPr>
              <a:t>structured</a:t>
            </a:r>
            <a:r>
              <a:rPr dirty="0" sz="1400" spc="5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12121"/>
                </a:solidFill>
                <a:latin typeface="Trebuchet MS"/>
                <a:cs typeface="Trebuchet MS"/>
              </a:rPr>
              <a:t>pipeline</a:t>
            </a:r>
            <a:r>
              <a:rPr dirty="0" sz="1400" spc="-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161616"/>
                </a:solidFill>
                <a:latin typeface="Trebuchet MS"/>
                <a:cs typeface="Trebuchet MS"/>
              </a:rPr>
              <a:t>ensures</a:t>
            </a:r>
            <a:r>
              <a:rPr dirty="0" sz="1400" spc="3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400" spc="-95">
                <a:solidFill>
                  <a:srgbClr val="242424"/>
                </a:solidFill>
                <a:latin typeface="Trebuchet MS"/>
                <a:cs typeface="Trebuchet MS"/>
              </a:rPr>
              <a:t>data</a:t>
            </a:r>
            <a:r>
              <a:rPr dirty="0" sz="1400" spc="2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00" spc="-70">
                <a:solidFill>
                  <a:srgbClr val="212121"/>
                </a:solidFill>
                <a:latin typeface="Trebuchet MS"/>
                <a:cs typeface="Trebuchet MS"/>
              </a:rPr>
              <a:t>quality</a:t>
            </a:r>
            <a:r>
              <a:rPr dirty="0" sz="1400" spc="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1400" spc="-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A2A2A"/>
                </a:solidFill>
                <a:latin typeface="Trebuchet MS"/>
                <a:cs typeface="Trebuchet MS"/>
              </a:rPr>
              <a:t>reproducibility</a:t>
            </a:r>
            <a:r>
              <a:rPr dirty="0" sz="1400" spc="-9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100">
                <a:solidFill>
                  <a:srgbClr val="262626"/>
                </a:solidFill>
                <a:latin typeface="Trebuchet MS"/>
                <a:cs typeface="Trebuchet MS"/>
              </a:rPr>
              <a:t>at</a:t>
            </a:r>
            <a:r>
              <a:rPr dirty="0" sz="1400" spc="-7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95">
                <a:solidFill>
                  <a:srgbClr val="212121"/>
                </a:solidFill>
                <a:latin typeface="Trebuchet MS"/>
                <a:cs typeface="Trebuchet MS"/>
              </a:rPr>
              <a:t>every</a:t>
            </a:r>
            <a:r>
              <a:rPr dirty="0" sz="1400" spc="-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85">
                <a:solidFill>
                  <a:srgbClr val="2B2B2B"/>
                </a:solidFill>
                <a:latin typeface="Trebuchet MS"/>
                <a:cs typeface="Trebuchet MS"/>
              </a:rPr>
              <a:t>stage</a:t>
            </a:r>
            <a:r>
              <a:rPr dirty="0" sz="1400" spc="-3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400" spc="50">
                <a:solidFill>
                  <a:srgbClr val="3D3D3D"/>
                </a:solidFill>
                <a:latin typeface="Trebuchet MS"/>
                <a:cs typeface="Trebuchet MS"/>
              </a:rPr>
              <a:t>—</a:t>
            </a:r>
            <a:r>
              <a:rPr dirty="0" sz="1400" spc="-130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282828"/>
                </a:solidFill>
                <a:latin typeface="Trebuchet MS"/>
                <a:cs typeface="Trebuchet MS"/>
              </a:rPr>
              <a:t>from</a:t>
            </a:r>
            <a:r>
              <a:rPr dirty="0" sz="1400" spc="-6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120">
                <a:solidFill>
                  <a:srgbClr val="262626"/>
                </a:solidFill>
                <a:latin typeface="Trebuchet MS"/>
                <a:cs typeface="Trebuchet MS"/>
              </a:rPr>
              <a:t>raw</a:t>
            </a:r>
            <a:r>
              <a:rPr dirty="0" sz="1400" spc="-2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70">
                <a:solidFill>
                  <a:srgbClr val="282828"/>
                </a:solidFill>
                <a:latin typeface="Trebuchet MS"/>
                <a:cs typeface="Trebuchet MS"/>
              </a:rPr>
              <a:t>database</a:t>
            </a:r>
            <a:r>
              <a:rPr dirty="0" sz="1400" spc="1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3D3D3D"/>
                </a:solidFill>
                <a:latin typeface="Trebuchet MS"/>
                <a:cs typeface="Trebuchet MS"/>
              </a:rPr>
              <a:t>to</a:t>
            </a:r>
            <a:r>
              <a:rPr dirty="0" sz="1400" spc="-30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2B2B2B"/>
                </a:solidFill>
                <a:latin typeface="Trebuchet MS"/>
                <a:cs typeface="Trebuchet MS"/>
              </a:rPr>
              <a:t>polished</a:t>
            </a:r>
            <a:r>
              <a:rPr dirty="0" sz="1400" spc="1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82828"/>
                </a:solidFill>
                <a:latin typeface="Trebuchet MS"/>
                <a:cs typeface="Trebuchet MS"/>
              </a:rPr>
              <a:t>dashboard.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162" y="2552638"/>
            <a:ext cx="5188188" cy="24085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41803" y="1035622"/>
            <a:ext cx="2891155" cy="6127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850" spc="-130"/>
              <a:t>Data</a:t>
            </a:r>
            <a:r>
              <a:rPr dirty="0" sz="3850" spc="-140"/>
              <a:t> </a:t>
            </a:r>
            <a:r>
              <a:rPr dirty="0" sz="3850" spc="-85"/>
              <a:t>Cleaning</a:t>
            </a:r>
            <a:endParaRPr sz="3850"/>
          </a:p>
        </p:txBody>
      </p:sp>
      <p:sp>
        <p:nvSpPr>
          <p:cNvPr id="4" name="object 4" descr=""/>
          <p:cNvSpPr txBox="1"/>
          <p:nvPr/>
        </p:nvSpPr>
        <p:spPr>
          <a:xfrm>
            <a:off x="7044943" y="1756658"/>
            <a:ext cx="2973070" cy="459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238760" indent="-2540">
              <a:lnSpc>
                <a:spcPct val="121400"/>
              </a:lnSpc>
              <a:spcBef>
                <a:spcPts val="100"/>
              </a:spcBef>
            </a:pPr>
            <a:r>
              <a:rPr dirty="0" sz="1450" spc="-125">
                <a:solidFill>
                  <a:srgbClr val="262626"/>
                </a:solidFill>
                <a:latin typeface="Trebuchet MS"/>
                <a:cs typeface="Trebuchet MS"/>
              </a:rPr>
              <a:t>Raw</a:t>
            </a:r>
            <a:r>
              <a:rPr dirty="0" sz="1450" spc="-1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120">
                <a:solidFill>
                  <a:srgbClr val="262626"/>
                </a:solidFill>
                <a:latin typeface="Trebuchet MS"/>
                <a:cs typeface="Trebuchet MS"/>
              </a:rPr>
              <a:t>data</a:t>
            </a:r>
            <a:r>
              <a:rPr dirty="0" sz="1450" spc="3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90">
                <a:solidFill>
                  <a:srgbClr val="2A2A2A"/>
                </a:solidFill>
                <a:latin typeface="Trebuchet MS"/>
                <a:cs typeface="Trebuchet MS"/>
              </a:rPr>
              <a:t>is</a:t>
            </a:r>
            <a:r>
              <a:rPr dirty="0" sz="1450" spc="-9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50" spc="-114">
                <a:solidFill>
                  <a:srgbClr val="232323"/>
                </a:solidFill>
                <a:latin typeface="Trebuchet MS"/>
                <a:cs typeface="Trebuchet MS"/>
              </a:rPr>
              <a:t>rarely</a:t>
            </a:r>
            <a:r>
              <a:rPr dirty="0" sz="1450" spc="-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85">
                <a:solidFill>
                  <a:srgbClr val="212121"/>
                </a:solidFill>
                <a:latin typeface="Trebuchet MS"/>
                <a:cs typeface="Trebuchet MS"/>
              </a:rPr>
              <a:t>analysis-</a:t>
            </a:r>
            <a:r>
              <a:rPr dirty="0" sz="1450" spc="-95">
                <a:solidFill>
                  <a:srgbClr val="212121"/>
                </a:solidFill>
                <a:latin typeface="Trebuchet MS"/>
                <a:cs typeface="Trebuchet MS"/>
              </a:rPr>
              <a:t>ready.</a:t>
            </a:r>
            <a:r>
              <a:rPr dirty="0" sz="145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50" spc="-30">
                <a:solidFill>
                  <a:srgbClr val="1C1C1C"/>
                </a:solidFill>
                <a:latin typeface="Trebuchet MS"/>
                <a:cs typeface="Trebuchet MS"/>
              </a:rPr>
              <a:t>Key </a:t>
            </a:r>
            <a:r>
              <a:rPr dirty="0" sz="1450" spc="-95">
                <a:solidFill>
                  <a:srgbClr val="1F1F1F"/>
                </a:solidFill>
                <a:latin typeface="Trebuchet MS"/>
                <a:cs typeface="Trebuchet MS"/>
              </a:rPr>
              <a:t>preparation</a:t>
            </a:r>
            <a:r>
              <a:rPr dirty="0" sz="145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C1C1C"/>
                </a:solidFill>
                <a:latin typeface="Trebuchet MS"/>
                <a:cs typeface="Trebuchet MS"/>
              </a:rPr>
              <a:t>steps:</a:t>
            </a:r>
            <a:endParaRPr sz="1450">
              <a:latin typeface="Trebuchet MS"/>
              <a:cs typeface="Trebuchet MS"/>
            </a:endParaRPr>
          </a:p>
          <a:p>
            <a:pPr marL="65405">
              <a:lnSpc>
                <a:spcPct val="100000"/>
              </a:lnSpc>
              <a:spcBef>
                <a:spcPts val="1680"/>
              </a:spcBef>
              <a:tabLst>
                <a:tab pos="597535" algn="l"/>
              </a:tabLst>
            </a:pPr>
            <a:r>
              <a:rPr dirty="0" sz="1800" spc="-390">
                <a:solidFill>
                  <a:srgbClr val="2B2B2B"/>
                </a:solidFill>
                <a:latin typeface="Trebuchet MS"/>
                <a:cs typeface="Trebuchet MS"/>
              </a:rPr>
              <a:t>—</a:t>
            </a:r>
            <a:r>
              <a:rPr dirty="0" sz="1800" spc="-25">
                <a:solidFill>
                  <a:srgbClr val="2B2B2B"/>
                </a:solidFill>
                <a:latin typeface="Trebuchet MS"/>
                <a:cs typeface="Trebuchet MS"/>
              </a:rPr>
              <a:t>$*</a:t>
            </a:r>
            <a:r>
              <a:rPr dirty="0" sz="1800">
                <a:solidFill>
                  <a:srgbClr val="2B2B2B"/>
                </a:solidFill>
                <a:latin typeface="Trebuchet MS"/>
                <a:cs typeface="Trebuchet MS"/>
              </a:rPr>
              <a:t>	</a:t>
            </a:r>
            <a:r>
              <a:rPr dirty="0" sz="1800">
                <a:solidFill>
                  <a:srgbClr val="313131"/>
                </a:solidFill>
                <a:latin typeface="Trebuchet MS"/>
                <a:cs typeface="Trebuchet MS"/>
              </a:rPr>
              <a:t>Missing</a:t>
            </a:r>
            <a:r>
              <a:rPr dirty="0" sz="1800" spc="365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62626"/>
                </a:solidFill>
                <a:latin typeface="Trebuchet MS"/>
                <a:cs typeface="Trebuchet MS"/>
              </a:rPr>
              <a:t>Values</a:t>
            </a:r>
            <a:endParaRPr sz="1800">
              <a:latin typeface="Trebuchet MS"/>
              <a:cs typeface="Trebuchet MS"/>
            </a:endParaRPr>
          </a:p>
          <a:p>
            <a:pPr marL="587375" marR="120650" indent="-5080">
              <a:lnSpc>
                <a:spcPct val="117400"/>
              </a:lnSpc>
              <a:spcBef>
                <a:spcPts val="1065"/>
              </a:spcBef>
            </a:pPr>
            <a:r>
              <a:rPr dirty="0" sz="1500" spc="-114">
                <a:solidFill>
                  <a:srgbClr val="181818"/>
                </a:solidFill>
                <a:latin typeface="Trebuchet MS"/>
                <a:cs typeface="Trebuchet MS"/>
              </a:rPr>
              <a:t>Identified</a:t>
            </a:r>
            <a:r>
              <a:rPr dirty="0" sz="1500" spc="75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82828"/>
                </a:solidFill>
                <a:latin typeface="Trebuchet MS"/>
                <a:cs typeface="Trebuchet MS"/>
              </a:rPr>
              <a:t>and</a:t>
            </a:r>
            <a:r>
              <a:rPr dirty="0" sz="1500" spc="-3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00" spc="-140">
                <a:solidFill>
                  <a:srgbClr val="1F1F1F"/>
                </a:solidFill>
                <a:latin typeface="Trebuchet MS"/>
                <a:cs typeface="Trebuchet MS"/>
              </a:rPr>
              <a:t>imputed</a:t>
            </a:r>
            <a:r>
              <a:rPr dirty="0" sz="1500" spc="3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500" spc="-100">
                <a:solidFill>
                  <a:srgbClr val="161616"/>
                </a:solidFill>
                <a:latin typeface="Trebuchet MS"/>
                <a:cs typeface="Trebuchet MS"/>
              </a:rPr>
              <a:t>nulls</a:t>
            </a:r>
            <a:r>
              <a:rPr dirty="0" sz="1500" spc="-85">
                <a:solidFill>
                  <a:srgbClr val="161616"/>
                </a:solidFill>
                <a:latin typeface="Trebuchet MS"/>
                <a:cs typeface="Trebuchet MS"/>
              </a:rPr>
              <a:t> </a:t>
            </a:r>
            <a:r>
              <a:rPr dirty="0" sz="1500" spc="-55">
                <a:solidFill>
                  <a:srgbClr val="313131"/>
                </a:solidFill>
                <a:latin typeface="Trebuchet MS"/>
                <a:cs typeface="Trebuchet MS"/>
              </a:rPr>
              <a:t>to </a:t>
            </a:r>
            <a:r>
              <a:rPr dirty="0" sz="1500" spc="-130">
                <a:solidFill>
                  <a:srgbClr val="1C1C1C"/>
                </a:solidFill>
                <a:latin typeface="Trebuchet MS"/>
                <a:cs typeface="Trebuchet MS"/>
              </a:rPr>
              <a:t>maintain</a:t>
            </a:r>
            <a:r>
              <a:rPr dirty="0" sz="1500" spc="3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130">
                <a:solidFill>
                  <a:srgbClr val="262626"/>
                </a:solidFill>
                <a:latin typeface="Trebuchet MS"/>
                <a:cs typeface="Trebuchet MS"/>
              </a:rPr>
              <a:t>dataset</a:t>
            </a:r>
            <a:r>
              <a:rPr dirty="0" sz="1500" spc="-3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20">
                <a:solidFill>
                  <a:srgbClr val="232323"/>
                </a:solidFill>
                <a:latin typeface="Trebuchet MS"/>
                <a:cs typeface="Trebuchet MS"/>
              </a:rPr>
              <a:t>integrity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500">
              <a:latin typeface="Trebuchet MS"/>
              <a:cs typeface="Trebuchet MS"/>
            </a:endParaRPr>
          </a:p>
          <a:p>
            <a:pPr marL="65405">
              <a:lnSpc>
                <a:spcPct val="100000"/>
              </a:lnSpc>
              <a:tabLst>
                <a:tab pos="582930" algn="l"/>
              </a:tabLst>
            </a:pPr>
            <a:r>
              <a:rPr dirty="0" sz="1800" spc="-390">
                <a:solidFill>
                  <a:srgbClr val="2F2F2F"/>
                </a:solidFill>
                <a:latin typeface="Trebuchet MS"/>
                <a:cs typeface="Trebuchet MS"/>
              </a:rPr>
              <a:t>—</a:t>
            </a:r>
            <a:r>
              <a:rPr dirty="0" sz="1800" spc="-25">
                <a:solidFill>
                  <a:srgbClr val="2F2F2F"/>
                </a:solidFill>
                <a:latin typeface="Trebuchet MS"/>
                <a:cs typeface="Trebuchet MS"/>
              </a:rPr>
              <a:t>$*</a:t>
            </a:r>
            <a:r>
              <a:rPr dirty="0" sz="1800">
                <a:solidFill>
                  <a:srgbClr val="2F2F2F"/>
                </a:solidFill>
                <a:latin typeface="Trebuchet MS"/>
                <a:cs typeface="Trebuchet MS"/>
              </a:rPr>
              <a:t>	Duplicate</a:t>
            </a:r>
            <a:r>
              <a:rPr dirty="0" sz="1800" spc="50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282828"/>
                </a:solidFill>
                <a:latin typeface="Trebuchet MS"/>
                <a:cs typeface="Trebuchet MS"/>
              </a:rPr>
              <a:t>Removal</a:t>
            </a:r>
            <a:endParaRPr sz="1800">
              <a:latin typeface="Trebuchet MS"/>
              <a:cs typeface="Trebuchet MS"/>
            </a:endParaRPr>
          </a:p>
          <a:p>
            <a:pPr marL="588010" marR="5080" indent="-1905">
              <a:lnSpc>
                <a:spcPct val="121500"/>
              </a:lnSpc>
              <a:spcBef>
                <a:spcPts val="1075"/>
              </a:spcBef>
            </a:pPr>
            <a:r>
              <a:rPr dirty="0" sz="1400" spc="-65">
                <a:solidFill>
                  <a:srgbClr val="212121"/>
                </a:solidFill>
                <a:latin typeface="Trebuchet MS"/>
                <a:cs typeface="Trebuchet MS"/>
              </a:rPr>
              <a:t>Eliminated</a:t>
            </a:r>
            <a:r>
              <a:rPr dirty="0" sz="1400" spc="-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262626"/>
                </a:solidFill>
                <a:latin typeface="Trebuchet MS"/>
                <a:cs typeface="Trebuchet MS"/>
              </a:rPr>
              <a:t>redundant</a:t>
            </a:r>
            <a:r>
              <a:rPr dirty="0" sz="1400" spc="1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00" spc="-70">
                <a:solidFill>
                  <a:srgbClr val="2A2A2A"/>
                </a:solidFill>
                <a:latin typeface="Trebuchet MS"/>
                <a:cs typeface="Trebuchet MS"/>
              </a:rPr>
              <a:t>records</a:t>
            </a:r>
            <a:r>
              <a:rPr dirty="0" sz="1400" spc="-8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242424"/>
                </a:solidFill>
                <a:latin typeface="Trebuchet MS"/>
                <a:cs typeface="Trebuchet MS"/>
              </a:rPr>
              <a:t>to </a:t>
            </a:r>
            <a:r>
              <a:rPr dirty="0" sz="1400" spc="-80">
                <a:solidFill>
                  <a:srgbClr val="2A2A2A"/>
                </a:solidFill>
                <a:latin typeface="Trebuchet MS"/>
                <a:cs typeface="Trebuchet MS"/>
              </a:rPr>
              <a:t>prevent</a:t>
            </a:r>
            <a:r>
              <a:rPr dirty="0" sz="1400" spc="-1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82828"/>
                </a:solidFill>
                <a:latin typeface="Trebuchet MS"/>
                <a:cs typeface="Trebuchet MS"/>
              </a:rPr>
              <a:t>skewed</a:t>
            </a:r>
            <a:r>
              <a:rPr dirty="0" sz="140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400">
              <a:latin typeface="Trebuchet MS"/>
              <a:cs typeface="Trebuchet MS"/>
            </a:endParaRPr>
          </a:p>
          <a:p>
            <a:pPr marL="65405">
              <a:lnSpc>
                <a:spcPct val="100000"/>
              </a:lnSpc>
              <a:tabLst>
                <a:tab pos="582930" algn="l"/>
              </a:tabLst>
            </a:pPr>
            <a:r>
              <a:rPr dirty="0" sz="1800" spc="-390">
                <a:solidFill>
                  <a:srgbClr val="313131"/>
                </a:solidFill>
                <a:latin typeface="Trebuchet MS"/>
                <a:cs typeface="Trebuchet MS"/>
              </a:rPr>
              <a:t>—</a:t>
            </a:r>
            <a:r>
              <a:rPr dirty="0" sz="1800" spc="-25">
                <a:solidFill>
                  <a:srgbClr val="313131"/>
                </a:solidFill>
                <a:latin typeface="Trebuchet MS"/>
                <a:cs typeface="Trebuchet MS"/>
              </a:rPr>
              <a:t>$*</a:t>
            </a:r>
            <a:r>
              <a:rPr dirty="0" sz="1800">
                <a:solidFill>
                  <a:srgbClr val="313131"/>
                </a:solidFill>
                <a:latin typeface="Trebuchet MS"/>
                <a:cs typeface="Trebuchet MS"/>
              </a:rPr>
              <a:t>	</a:t>
            </a:r>
            <a:r>
              <a:rPr dirty="0" sz="1800">
                <a:solidFill>
                  <a:srgbClr val="363636"/>
                </a:solidFill>
                <a:latin typeface="Trebuchet MS"/>
                <a:cs typeface="Trebuchet MS"/>
              </a:rPr>
              <a:t>Data</a:t>
            </a:r>
            <a:r>
              <a:rPr dirty="0" sz="1800" spc="-15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Trebuchet MS"/>
                <a:cs typeface="Trebuchet MS"/>
              </a:rPr>
              <a:t>Transformation</a:t>
            </a:r>
            <a:endParaRPr sz="1800">
              <a:latin typeface="Trebuchet MS"/>
              <a:cs typeface="Trebuchet MS"/>
            </a:endParaRPr>
          </a:p>
          <a:p>
            <a:pPr marL="581025" marR="91440" indent="5080">
              <a:lnSpc>
                <a:spcPct val="118100"/>
              </a:lnSpc>
              <a:spcBef>
                <a:spcPts val="1055"/>
              </a:spcBef>
            </a:pPr>
            <a:r>
              <a:rPr dirty="0" sz="1500" spc="-110">
                <a:solidFill>
                  <a:srgbClr val="1F1F1F"/>
                </a:solidFill>
                <a:latin typeface="Trebuchet MS"/>
                <a:cs typeface="Trebuchet MS"/>
              </a:rPr>
              <a:t>Standardised</a:t>
            </a:r>
            <a:r>
              <a:rPr dirty="0" sz="1500" spc="5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32323"/>
                </a:solidFill>
                <a:latin typeface="Trebuchet MS"/>
                <a:cs typeface="Trebuchet MS"/>
              </a:rPr>
              <a:t>formats,</a:t>
            </a:r>
            <a:r>
              <a:rPr dirty="0" sz="1500" spc="-1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85">
                <a:solidFill>
                  <a:srgbClr val="1C1C1C"/>
                </a:solidFill>
                <a:latin typeface="Trebuchet MS"/>
                <a:cs typeface="Trebuchet MS"/>
              </a:rPr>
              <a:t>encoded </a:t>
            </a:r>
            <a:r>
              <a:rPr dirty="0" sz="1500" spc="-125">
                <a:solidFill>
                  <a:srgbClr val="0F0F0F"/>
                </a:solidFill>
                <a:latin typeface="Trebuchet MS"/>
                <a:cs typeface="Trebuchet MS"/>
              </a:rPr>
              <a:t>categories,</a:t>
            </a:r>
            <a:r>
              <a:rPr dirty="0" sz="1500" spc="-65">
                <a:solidFill>
                  <a:srgbClr val="0F0F0F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32323"/>
                </a:solidFill>
                <a:latin typeface="Trebuchet MS"/>
                <a:cs typeface="Trebuchet MS"/>
              </a:rPr>
              <a:t>and</a:t>
            </a:r>
            <a:r>
              <a:rPr dirty="0" sz="1500" spc="-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212121"/>
                </a:solidFill>
                <a:latin typeface="Trebuchet MS"/>
                <a:cs typeface="Trebuchet MS"/>
              </a:rPr>
              <a:t>engineered </a:t>
            </a:r>
            <a:r>
              <a:rPr dirty="0" sz="1400" spc="-90">
                <a:solidFill>
                  <a:srgbClr val="232323"/>
                </a:solidFill>
                <a:latin typeface="Consolas"/>
                <a:cs typeface="Consolas"/>
              </a:rPr>
              <a:t>features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9053" y="5085469"/>
            <a:ext cx="1414406" cy="32909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9053" y="4591833"/>
            <a:ext cx="1969194" cy="33518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9053" y="4104293"/>
            <a:ext cx="2267927" cy="33518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9053" y="3616751"/>
            <a:ext cx="2743460" cy="33518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29053" y="3129211"/>
            <a:ext cx="3401890" cy="3351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3815" y="1820210"/>
            <a:ext cx="5268595" cy="6121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50" spc="-150"/>
              <a:t>Exploratory</a:t>
            </a:r>
            <a:r>
              <a:rPr dirty="0" sz="3850" spc="-35"/>
              <a:t> </a:t>
            </a:r>
            <a:r>
              <a:rPr dirty="0" sz="3850" spc="-130"/>
              <a:t>Data</a:t>
            </a:r>
            <a:r>
              <a:rPr dirty="0" sz="3850" spc="-165"/>
              <a:t> </a:t>
            </a:r>
            <a:r>
              <a:rPr dirty="0" sz="3850" spc="-10"/>
              <a:t>Analysis</a:t>
            </a:r>
            <a:endParaRPr sz="3850"/>
          </a:p>
        </p:txBody>
      </p:sp>
      <p:sp>
        <p:nvSpPr>
          <p:cNvPr id="8" name="object 8" descr=""/>
          <p:cNvSpPr txBox="1"/>
          <p:nvPr/>
        </p:nvSpPr>
        <p:spPr>
          <a:xfrm>
            <a:off x="604933" y="2850140"/>
            <a:ext cx="438784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>
                <a:solidFill>
                  <a:srgbClr val="1F1F1F"/>
                </a:solidFill>
                <a:latin typeface="Trebuchet MS"/>
                <a:cs typeface="Trebuchet MS"/>
              </a:rPr>
              <a:t>Category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0286" y="3218844"/>
            <a:ext cx="49212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0">
                <a:solidFill>
                  <a:srgbClr val="212121"/>
                </a:solidFill>
                <a:latin typeface="Trebuchet MS"/>
                <a:cs typeface="Trebuchet MS"/>
              </a:rPr>
              <a:t>Outerwear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40999" y="3706131"/>
            <a:ext cx="4425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65">
                <a:solidFill>
                  <a:srgbClr val="232323"/>
                </a:solidFill>
                <a:latin typeface="Trebuchet MS"/>
                <a:cs typeface="Trebuchet MS"/>
              </a:rPr>
              <a:t>Footwear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5024" y="4193671"/>
            <a:ext cx="5721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0">
                <a:solidFill>
                  <a:srgbClr val="232323"/>
                </a:solidFill>
                <a:latin typeface="Trebuchet MS"/>
                <a:cs typeface="Trebuchet MS"/>
              </a:rPr>
              <a:t>Accessories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93927" y="4690608"/>
            <a:ext cx="3892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5">
                <a:solidFill>
                  <a:srgbClr val="232323"/>
                </a:solidFill>
                <a:latin typeface="Trebuchet MS"/>
                <a:cs typeface="Trebuchet MS"/>
              </a:rPr>
              <a:t>Clothing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5859" y="5181196"/>
            <a:ext cx="27305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0">
                <a:solidFill>
                  <a:srgbClr val="1F1F1F"/>
                </a:solidFill>
                <a:latin typeface="Trebuchet MS"/>
                <a:cs typeface="Trebuchet MS"/>
              </a:rPr>
              <a:t>Other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93153" y="5461279"/>
            <a:ext cx="88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1C1C1C"/>
                </a:solidFill>
                <a:latin typeface="Consolas"/>
                <a:cs typeface="Consolas"/>
              </a:rPr>
              <a:t>0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003159" y="5461279"/>
            <a:ext cx="1371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262626"/>
                </a:solidFill>
                <a:latin typeface="Consolas"/>
                <a:cs typeface="Consolas"/>
              </a:rPr>
              <a:t>2k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47732" y="5467627"/>
            <a:ext cx="1276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4F4F4F"/>
                </a:solidFill>
                <a:latin typeface="Trebuchet MS"/>
                <a:cs typeface="Trebuchet MS"/>
              </a:rPr>
              <a:t>4k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86933" y="5626077"/>
            <a:ext cx="5816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151515"/>
                </a:solidFill>
                <a:latin typeface="Trebuchet MS"/>
                <a:cs typeface="Trebuchet MS"/>
              </a:rPr>
              <a:t>Revenue</a:t>
            </a:r>
            <a:r>
              <a:rPr dirty="0" sz="850" spc="5">
                <a:solidFill>
                  <a:srgbClr val="151515"/>
                </a:solidFill>
                <a:latin typeface="Trebuchet MS"/>
                <a:cs typeface="Trebuchet MS"/>
              </a:rPr>
              <a:t> </a:t>
            </a:r>
            <a:r>
              <a:rPr dirty="0" sz="850" spc="-25">
                <a:solidFill>
                  <a:srgbClr val="3D3D3D"/>
                </a:solidFill>
                <a:latin typeface="Trebuchet MS"/>
                <a:cs typeface="Trebuchet MS"/>
              </a:rPr>
              <a:t>(S)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482308" y="5467627"/>
            <a:ext cx="1314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2F2F2F"/>
                </a:solidFill>
                <a:latin typeface="Trebuchet MS"/>
                <a:cs typeface="Trebuchet MS"/>
              </a:rPr>
              <a:t>6k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219731" y="5467627"/>
            <a:ext cx="13144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242424"/>
                </a:solidFill>
                <a:latin typeface="Trebuchet MS"/>
                <a:cs typeface="Trebuchet MS"/>
              </a:rPr>
              <a:t>8k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27179" y="5467627"/>
            <a:ext cx="17843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0">
                <a:solidFill>
                  <a:srgbClr val="232323"/>
                </a:solidFill>
                <a:latin typeface="Trebuchet MS"/>
                <a:cs typeface="Trebuchet MS"/>
              </a:rPr>
              <a:t>10k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560651" y="2823733"/>
            <a:ext cx="240919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latin typeface="Trebuchet MS"/>
                <a:cs typeface="Trebuchet MS"/>
              </a:rPr>
              <a:t>Key</a:t>
            </a:r>
            <a:r>
              <a:rPr dirty="0" sz="1850" spc="-15">
                <a:latin typeface="Trebuchet MS"/>
                <a:cs typeface="Trebuchet MS"/>
              </a:rPr>
              <a:t> </a:t>
            </a:r>
            <a:r>
              <a:rPr dirty="0" sz="1850">
                <a:latin typeface="Trebuchet MS"/>
                <a:cs typeface="Trebuchet MS"/>
              </a:rPr>
              <a:t>Findings</a:t>
            </a:r>
            <a:r>
              <a:rPr dirty="0" sz="1850" spc="5">
                <a:latin typeface="Trebuchet MS"/>
                <a:cs typeface="Trebuchet MS"/>
              </a:rPr>
              <a:t> </a:t>
            </a:r>
            <a:r>
              <a:rPr dirty="0" sz="1850" spc="-25">
                <a:latin typeface="Trebuchet MS"/>
                <a:cs typeface="Trebuchet MS"/>
              </a:rPr>
              <a:t>from</a:t>
            </a:r>
            <a:r>
              <a:rPr dirty="0" sz="1850" spc="-70">
                <a:latin typeface="Trebuchet MS"/>
                <a:cs typeface="Trebuchet MS"/>
              </a:rPr>
              <a:t> </a:t>
            </a:r>
            <a:r>
              <a:rPr dirty="0" sz="1850" spc="65">
                <a:latin typeface="Trebuchet MS"/>
                <a:cs typeface="Trebuchet MS"/>
              </a:rPr>
              <a:t>EDA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572617" y="3184402"/>
            <a:ext cx="4436110" cy="184912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284480" indent="-271145">
              <a:lnSpc>
                <a:spcPct val="100000"/>
              </a:lnSpc>
              <a:spcBef>
                <a:spcPts val="875"/>
              </a:spcBef>
              <a:buClr>
                <a:srgbClr val="313131"/>
              </a:buClr>
              <a:buChar char="•"/>
              <a:tabLst>
                <a:tab pos="284480" algn="l"/>
              </a:tabLst>
            </a:pPr>
            <a:r>
              <a:rPr dirty="0" sz="1450" spc="-110">
                <a:solidFill>
                  <a:srgbClr val="242424"/>
                </a:solidFill>
                <a:latin typeface="Trebuchet MS"/>
                <a:cs typeface="Trebuchet MS"/>
              </a:rPr>
              <a:t>Outerwear</a:t>
            </a:r>
            <a:r>
              <a:rPr dirty="0" sz="1450" spc="3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450" spc="-95">
                <a:solidFill>
                  <a:srgbClr val="232323"/>
                </a:solidFill>
                <a:latin typeface="Trebuchet MS"/>
                <a:cs typeface="Trebuchet MS"/>
              </a:rPr>
              <a:t>leads</a:t>
            </a:r>
            <a:r>
              <a:rPr dirty="0" sz="1450" spc="2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50" spc="-114">
                <a:solidFill>
                  <a:srgbClr val="262626"/>
                </a:solidFill>
                <a:latin typeface="Trebuchet MS"/>
                <a:cs typeface="Trebuchet MS"/>
              </a:rPr>
              <a:t>all</a:t>
            </a:r>
            <a:r>
              <a:rPr dirty="0" sz="1450" spc="-25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1C1C1C"/>
                </a:solidFill>
                <a:latin typeface="Trebuchet MS"/>
                <a:cs typeface="Trebuchet MS"/>
              </a:rPr>
              <a:t>categories</a:t>
            </a:r>
            <a:r>
              <a:rPr dirty="0" sz="1450" spc="6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333333"/>
                </a:solidFill>
                <a:latin typeface="Trebuchet MS"/>
                <a:cs typeface="Trebuchet MS"/>
              </a:rPr>
              <a:t>in</a:t>
            </a:r>
            <a:r>
              <a:rPr dirty="0" sz="1450" spc="-95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50" spc="-100">
                <a:solidFill>
                  <a:srgbClr val="1A1A1A"/>
                </a:solidFill>
                <a:latin typeface="Trebuchet MS"/>
                <a:cs typeface="Trebuchet MS"/>
              </a:rPr>
              <a:t>revenue</a:t>
            </a:r>
            <a:r>
              <a:rPr dirty="0" sz="1450" spc="-20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A1A1A"/>
                </a:solidFill>
                <a:latin typeface="Trebuchet MS"/>
                <a:cs typeface="Trebuchet MS"/>
              </a:rPr>
              <a:t>generation</a:t>
            </a:r>
            <a:endParaRPr sz="1450">
              <a:latin typeface="Trebuchet MS"/>
              <a:cs typeface="Trebuchet MS"/>
            </a:endParaRPr>
          </a:p>
          <a:p>
            <a:pPr marL="284480" marR="111760" indent="-272415">
              <a:lnSpc>
                <a:spcPct val="113300"/>
              </a:lnSpc>
              <a:spcBef>
                <a:spcPts val="560"/>
              </a:spcBef>
              <a:buClr>
                <a:srgbClr val="313131"/>
              </a:buClr>
              <a:buChar char="•"/>
              <a:tabLst>
                <a:tab pos="285750" algn="l"/>
              </a:tabLst>
            </a:pPr>
            <a:r>
              <a:rPr dirty="0" sz="1500" spc="-90">
                <a:solidFill>
                  <a:srgbClr val="262626"/>
                </a:solidFill>
                <a:latin typeface="Trebuchet MS"/>
                <a:cs typeface="Trebuchet MS"/>
              </a:rPr>
              <a:t>Senior</a:t>
            </a:r>
            <a:r>
              <a:rPr dirty="0" sz="1500" spc="-6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2A2A2A"/>
                </a:solidFill>
                <a:latin typeface="Trebuchet MS"/>
                <a:cs typeface="Trebuchet MS"/>
              </a:rPr>
              <a:t>and</a:t>
            </a:r>
            <a:r>
              <a:rPr dirty="0" sz="1500" spc="-7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00" spc="-114">
                <a:solidFill>
                  <a:srgbClr val="242424"/>
                </a:solidFill>
                <a:latin typeface="Trebuchet MS"/>
                <a:cs typeface="Trebuchet MS"/>
              </a:rPr>
              <a:t>middle-</a:t>
            </a:r>
            <a:r>
              <a:rPr dirty="0" sz="1500" spc="-125">
                <a:solidFill>
                  <a:srgbClr val="242424"/>
                </a:solidFill>
                <a:latin typeface="Trebuchet MS"/>
                <a:cs typeface="Trebuchet MS"/>
              </a:rPr>
              <a:t>aged</a:t>
            </a:r>
            <a:r>
              <a:rPr dirty="0" sz="1500" spc="40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500" spc="-120">
                <a:solidFill>
                  <a:srgbClr val="242424"/>
                </a:solidFill>
                <a:latin typeface="Trebuchet MS"/>
                <a:cs typeface="Trebuchet MS"/>
              </a:rPr>
              <a:t>segments</a:t>
            </a:r>
            <a:r>
              <a:rPr dirty="0" sz="1500" spc="3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500" spc="-125">
                <a:solidFill>
                  <a:srgbClr val="1C1C1C"/>
                </a:solidFill>
                <a:latin typeface="Trebuchet MS"/>
                <a:cs typeface="Trebuchet MS"/>
              </a:rPr>
              <a:t>drive</a:t>
            </a:r>
            <a:r>
              <a:rPr dirty="0" sz="1500" spc="-8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500" spc="-155">
                <a:solidFill>
                  <a:srgbClr val="242424"/>
                </a:solidFill>
                <a:latin typeface="Trebuchet MS"/>
                <a:cs typeface="Trebuchet MS"/>
              </a:rPr>
              <a:t>the</a:t>
            </a:r>
            <a:r>
              <a:rPr dirty="0" sz="1500" spc="-3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500" spc="-135">
                <a:solidFill>
                  <a:srgbClr val="212121"/>
                </a:solidFill>
                <a:latin typeface="Trebuchet MS"/>
                <a:cs typeface="Trebuchet MS"/>
              </a:rPr>
              <a:t>majority</a:t>
            </a:r>
            <a:r>
              <a:rPr dirty="0" sz="1500" spc="-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2B2B2B"/>
                </a:solidFill>
                <a:latin typeface="Trebuchet MS"/>
                <a:cs typeface="Trebuchet MS"/>
              </a:rPr>
              <a:t>of </a:t>
            </a:r>
            <a:r>
              <a:rPr dirty="0" sz="1500" spc="-25">
                <a:solidFill>
                  <a:srgbClr val="2B2B2B"/>
                </a:solidFill>
                <a:latin typeface="Trebuchet MS"/>
                <a:cs typeface="Trebuchet MS"/>
              </a:rPr>
              <a:t>	</a:t>
            </a:r>
            <a:r>
              <a:rPr dirty="0" sz="1500" spc="-10">
                <a:solidFill>
                  <a:srgbClr val="212121"/>
                </a:solidFill>
                <a:latin typeface="Trebuchet MS"/>
                <a:cs typeface="Trebuchet MS"/>
              </a:rPr>
              <a:t>purchases</a:t>
            </a:r>
            <a:endParaRPr sz="1500">
              <a:latin typeface="Trebuchet MS"/>
              <a:cs typeface="Trebuchet MS"/>
            </a:endParaRPr>
          </a:p>
          <a:p>
            <a:pPr marL="285115" indent="-271145">
              <a:lnSpc>
                <a:spcPct val="100000"/>
              </a:lnSpc>
              <a:spcBef>
                <a:spcPts val="890"/>
              </a:spcBef>
              <a:buClr>
                <a:srgbClr val="1F1F1F"/>
              </a:buClr>
              <a:buChar char="•"/>
              <a:tabLst>
                <a:tab pos="285115" algn="l"/>
              </a:tabLst>
            </a:pPr>
            <a:r>
              <a:rPr dirty="0" sz="1400" spc="-40">
                <a:solidFill>
                  <a:srgbClr val="1C1C1C"/>
                </a:solidFill>
                <a:latin typeface="Trebuchet MS"/>
                <a:cs typeface="Trebuchet MS"/>
              </a:rPr>
              <a:t>Non-</a:t>
            </a:r>
            <a:r>
              <a:rPr dirty="0" sz="1400" spc="-35">
                <a:solidFill>
                  <a:srgbClr val="1C1C1C"/>
                </a:solidFill>
                <a:latin typeface="Trebuchet MS"/>
                <a:cs typeface="Trebuchet MS"/>
              </a:rPr>
              <a:t>subscribers</a:t>
            </a:r>
            <a:r>
              <a:rPr dirty="0" sz="1400" spc="-155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2A2A2A"/>
                </a:solidFill>
                <a:latin typeface="Trebuchet MS"/>
                <a:cs typeface="Trebuchet MS"/>
              </a:rPr>
              <a:t>form</a:t>
            </a:r>
            <a:r>
              <a:rPr dirty="0" sz="1400" spc="-11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400" spc="-75">
                <a:solidFill>
                  <a:srgbClr val="333333"/>
                </a:solidFill>
                <a:latin typeface="Trebuchet MS"/>
                <a:cs typeface="Trebuchet MS"/>
              </a:rPr>
              <a:t>the</a:t>
            </a:r>
            <a:r>
              <a:rPr dirty="0" sz="1400" spc="-4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111111"/>
                </a:solidFill>
                <a:latin typeface="Trebuchet MS"/>
                <a:cs typeface="Trebuchet MS"/>
              </a:rPr>
              <a:t>largest</a:t>
            </a:r>
            <a:r>
              <a:rPr dirty="0" sz="1400" spc="5">
                <a:solidFill>
                  <a:srgbClr val="111111"/>
                </a:solidFill>
                <a:latin typeface="Trebuchet MS"/>
                <a:cs typeface="Trebuchet MS"/>
              </a:rPr>
              <a:t> </a:t>
            </a:r>
            <a:r>
              <a:rPr dirty="0" sz="1400" spc="-65">
                <a:solidFill>
                  <a:srgbClr val="1F1F1F"/>
                </a:solidFill>
                <a:latin typeface="Trebuchet MS"/>
                <a:cs typeface="Trebuchet MS"/>
              </a:rPr>
              <a:t>customer</a:t>
            </a:r>
            <a:r>
              <a:rPr dirty="0" sz="1400" spc="6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82828"/>
                </a:solidFill>
                <a:latin typeface="Trebuchet MS"/>
                <a:cs typeface="Trebuchet MS"/>
              </a:rPr>
              <a:t>group</a:t>
            </a:r>
            <a:r>
              <a:rPr dirty="0" sz="1400" spc="-45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212121"/>
                </a:solidFill>
                <a:latin typeface="Trebuchet MS"/>
                <a:cs typeface="Trebuchet MS"/>
              </a:rPr>
              <a:t>(</a:t>
            </a:r>
            <a:r>
              <a:rPr dirty="0" sz="1400" spc="30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212121"/>
                </a:solidFill>
                <a:latin typeface="Trebuchet MS"/>
                <a:cs typeface="Trebuchet MS"/>
              </a:rPr>
              <a:t>72%)</a:t>
            </a:r>
            <a:endParaRPr sz="1400">
              <a:latin typeface="Trebuchet MS"/>
              <a:cs typeface="Trebuchet MS"/>
            </a:endParaRPr>
          </a:p>
          <a:p>
            <a:pPr marL="285115" marR="494665" indent="-271145">
              <a:lnSpc>
                <a:spcPct val="121400"/>
              </a:lnSpc>
              <a:spcBef>
                <a:spcPts val="555"/>
              </a:spcBef>
              <a:buClr>
                <a:srgbClr val="2D2D2D"/>
              </a:buClr>
              <a:buChar char="•"/>
              <a:tabLst>
                <a:tab pos="286385" algn="l"/>
              </a:tabLst>
            </a:pPr>
            <a:r>
              <a:rPr dirty="0" sz="1400" spc="-50">
                <a:solidFill>
                  <a:srgbClr val="232323"/>
                </a:solidFill>
                <a:latin typeface="Trebuchet MS"/>
                <a:cs typeface="Trebuchet MS"/>
              </a:rPr>
              <a:t>Standard</a:t>
            </a:r>
            <a:r>
              <a:rPr dirty="0" sz="1400" spc="-15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1400" spc="-30">
                <a:solidFill>
                  <a:srgbClr val="2F2F2F"/>
                </a:solidFill>
                <a:latin typeface="Trebuchet MS"/>
                <a:cs typeface="Trebuchet MS"/>
              </a:rPr>
              <a:t>shipping</a:t>
            </a:r>
            <a:r>
              <a:rPr dirty="0" sz="1400" spc="-35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383838"/>
                </a:solidFill>
                <a:latin typeface="Trebuchet MS"/>
                <a:cs typeface="Trebuchet MS"/>
              </a:rPr>
              <a:t>is</a:t>
            </a:r>
            <a:r>
              <a:rPr dirty="0" sz="1400" spc="-150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2D2D2D"/>
                </a:solidFill>
                <a:latin typeface="Trebuchet MS"/>
                <a:cs typeface="Trebuchet MS"/>
              </a:rPr>
              <a:t>the</a:t>
            </a:r>
            <a:r>
              <a:rPr dirty="0" sz="1400" spc="-7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400" spc="-55">
                <a:solidFill>
                  <a:srgbClr val="282828"/>
                </a:solidFill>
                <a:latin typeface="Trebuchet MS"/>
                <a:cs typeface="Trebuchet MS"/>
              </a:rPr>
              <a:t>most</a:t>
            </a:r>
            <a:r>
              <a:rPr dirty="0" sz="1400" spc="-5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400" spc="-95">
                <a:solidFill>
                  <a:srgbClr val="2F2F2F"/>
                </a:solidFill>
                <a:latin typeface="Trebuchet MS"/>
                <a:cs typeface="Trebuchet MS"/>
              </a:rPr>
              <a:t>preferred</a:t>
            </a:r>
            <a:r>
              <a:rPr dirty="0" sz="1400" spc="35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dirty="0" sz="1400" spc="-60">
                <a:solidFill>
                  <a:srgbClr val="212121"/>
                </a:solidFill>
                <a:latin typeface="Trebuchet MS"/>
                <a:cs typeface="Trebuchet MS"/>
              </a:rPr>
              <a:t>fulfilment </a:t>
            </a:r>
            <a:r>
              <a:rPr dirty="0" sz="1400" spc="-60">
                <a:solidFill>
                  <a:srgbClr val="212121"/>
                </a:solidFill>
                <a:latin typeface="Trebuchet MS"/>
                <a:cs typeface="Trebuchet MS"/>
              </a:rPr>
              <a:t>	</a:t>
            </a:r>
            <a:r>
              <a:rPr dirty="0" sz="1400" spc="-10">
                <a:solidFill>
                  <a:srgbClr val="1F1F1F"/>
                </a:solidFill>
                <a:latin typeface="Trebuchet MS"/>
                <a:cs typeface="Trebuchet MS"/>
              </a:rPr>
              <a:t>method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679062" y="5959885"/>
            <a:ext cx="2164715" cy="287020"/>
            <a:chOff x="6679062" y="5959885"/>
            <a:chExt cx="2164715" cy="28702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9062" y="6124421"/>
              <a:ext cx="2115929" cy="12187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9062" y="5959885"/>
              <a:ext cx="2164712" cy="170630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5523" y="4527806"/>
            <a:ext cx="707342" cy="74955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2199" y="4698436"/>
            <a:ext cx="396355" cy="68252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12039" y="4680154"/>
            <a:ext cx="396355" cy="65205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6428" y="2468050"/>
            <a:ext cx="8158830" cy="749556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3185034" y="6634789"/>
            <a:ext cx="1851025" cy="0"/>
          </a:xfrm>
          <a:custGeom>
            <a:avLst/>
            <a:gdLst/>
            <a:ahLst/>
            <a:cxnLst/>
            <a:rect l="l" t="t" r="r" b="b"/>
            <a:pathLst>
              <a:path w="1851025" h="0">
                <a:moveTo>
                  <a:pt x="0" y="0"/>
                </a:moveTo>
                <a:lnTo>
                  <a:pt x="1850676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178936" y="6464159"/>
            <a:ext cx="2106930" cy="0"/>
          </a:xfrm>
          <a:custGeom>
            <a:avLst/>
            <a:gdLst/>
            <a:ahLst/>
            <a:cxnLst/>
            <a:rect l="l" t="t" r="r" b="b"/>
            <a:pathLst>
              <a:path w="2106929" h="0">
                <a:moveTo>
                  <a:pt x="0" y="0"/>
                </a:moveTo>
                <a:lnTo>
                  <a:pt x="2106782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178936" y="6256965"/>
            <a:ext cx="2106930" cy="0"/>
          </a:xfrm>
          <a:custGeom>
            <a:avLst/>
            <a:gdLst/>
            <a:ahLst/>
            <a:cxnLst/>
            <a:rect l="l" t="t" r="r" b="b"/>
            <a:pathLst>
              <a:path w="2106929" h="0">
                <a:moveTo>
                  <a:pt x="0" y="0"/>
                </a:moveTo>
                <a:lnTo>
                  <a:pt x="2106782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691258" y="6537286"/>
            <a:ext cx="1857375" cy="0"/>
          </a:xfrm>
          <a:custGeom>
            <a:avLst/>
            <a:gdLst/>
            <a:ahLst/>
            <a:cxnLst/>
            <a:rect l="l" t="t" r="r" b="b"/>
            <a:pathLst>
              <a:path w="1857375" h="0">
                <a:moveTo>
                  <a:pt x="0" y="0"/>
                </a:moveTo>
                <a:lnTo>
                  <a:pt x="1856773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691258" y="6384937"/>
            <a:ext cx="2113280" cy="0"/>
          </a:xfrm>
          <a:custGeom>
            <a:avLst/>
            <a:gdLst/>
            <a:ahLst/>
            <a:cxnLst/>
            <a:rect l="l" t="t" r="r" b="b"/>
            <a:pathLst>
              <a:path w="2113279" h="0">
                <a:moveTo>
                  <a:pt x="0" y="0"/>
                </a:moveTo>
                <a:lnTo>
                  <a:pt x="2112880" y="0"/>
                </a:lnTo>
              </a:path>
            </a:pathLst>
          </a:custGeom>
          <a:ln w="27422">
            <a:solidFill>
              <a:srgbClr val="2880C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03291" y="6112233"/>
            <a:ext cx="48782" cy="347355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3264" y="5502838"/>
            <a:ext cx="804906" cy="292509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85016" y="6148797"/>
            <a:ext cx="2591556" cy="170630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679062" y="6453494"/>
            <a:ext cx="1859822" cy="12797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61798" y="3254170"/>
            <a:ext cx="1000035" cy="25594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61798" y="6648501"/>
            <a:ext cx="1006133" cy="31688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904537" y="5965978"/>
            <a:ext cx="2426916" cy="17063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691114" y="6343803"/>
            <a:ext cx="2585458" cy="17063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00"/>
              <a:t>Dashboard</a:t>
            </a:r>
            <a:r>
              <a:rPr dirty="0" sz="3300" spc="-165"/>
              <a:t> </a:t>
            </a:r>
            <a:r>
              <a:rPr dirty="0" sz="3300" spc="-30"/>
              <a:t>Overview</a:t>
            </a:r>
            <a:endParaRPr sz="3300"/>
          </a:p>
        </p:txBody>
      </p:sp>
      <p:sp>
        <p:nvSpPr>
          <p:cNvPr id="23" name="object 23" descr=""/>
          <p:cNvSpPr txBox="1"/>
          <p:nvPr/>
        </p:nvSpPr>
        <p:spPr>
          <a:xfrm>
            <a:off x="1335449" y="1101134"/>
            <a:ext cx="1908810" cy="90424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280035">
              <a:lnSpc>
                <a:spcPct val="100000"/>
              </a:lnSpc>
              <a:spcBef>
                <a:spcPts val="980"/>
              </a:spcBef>
            </a:pPr>
            <a:r>
              <a:rPr dirty="0" sz="1550">
                <a:solidFill>
                  <a:srgbClr val="282828"/>
                </a:solidFill>
                <a:latin typeface="Trebuchet MS"/>
                <a:cs typeface="Trebuchet MS"/>
              </a:rPr>
              <a:t>KPI</a:t>
            </a:r>
            <a:r>
              <a:rPr dirty="0" sz="1550" spc="114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262626"/>
                </a:solidFill>
                <a:latin typeface="Trebuchet MS"/>
                <a:cs typeface="Trebuchet MS"/>
              </a:rPr>
              <a:t>Tracking</a:t>
            </a:r>
            <a:endParaRPr sz="1550">
              <a:latin typeface="Trebuchet MS"/>
              <a:cs typeface="Trebuchet MS"/>
            </a:endParaRPr>
          </a:p>
          <a:p>
            <a:pPr marL="13970" marR="5080" indent="-1905">
              <a:lnSpc>
                <a:spcPct val="120000"/>
              </a:lnSpc>
              <a:spcBef>
                <a:spcPts val="430"/>
              </a:spcBef>
            </a:pPr>
            <a:r>
              <a:rPr dirty="0" sz="1300" spc="-130">
                <a:solidFill>
                  <a:srgbClr val="2A2A2A"/>
                </a:solidFill>
                <a:latin typeface="Trebuchet MS"/>
                <a:cs typeface="Trebuchet MS"/>
              </a:rPr>
              <a:t>Top-</a:t>
            </a:r>
            <a:r>
              <a:rPr dirty="0" sz="1300" spc="-100">
                <a:solidFill>
                  <a:srgbClr val="2A2A2A"/>
                </a:solidFill>
                <a:latin typeface="Trebuchet MS"/>
                <a:cs typeface="Trebuchet MS"/>
              </a:rPr>
              <a:t>level</a:t>
            </a:r>
            <a:r>
              <a:rPr dirty="0" sz="1300" spc="50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12121"/>
                </a:solidFill>
                <a:latin typeface="Trebuchet MS"/>
                <a:cs typeface="Trebuchet MS"/>
              </a:rPr>
              <a:t>metrics:</a:t>
            </a:r>
            <a:r>
              <a:rPr dirty="0" sz="130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1300" spc="-85">
                <a:solidFill>
                  <a:srgbClr val="1A1A1A"/>
                </a:solidFill>
                <a:latin typeface="Trebuchet MS"/>
                <a:cs typeface="Trebuchet MS"/>
              </a:rPr>
              <a:t>customers, </a:t>
            </a:r>
            <a:r>
              <a:rPr dirty="0" sz="1300" spc="-114">
                <a:solidFill>
                  <a:srgbClr val="2D2D2D"/>
                </a:solidFill>
                <a:latin typeface="Trebuchet MS"/>
                <a:cs typeface="Trebuchet MS"/>
              </a:rPr>
              <a:t>revenue,</a:t>
            </a:r>
            <a:r>
              <a:rPr dirty="0" sz="1300" spc="-7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282828"/>
                </a:solidFill>
                <a:latin typeface="Trebuchet MS"/>
                <a:cs typeface="Trebuchet MS"/>
              </a:rPr>
              <a:t>ratings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436594" y="3605838"/>
            <a:ext cx="678815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dirty="0" sz="850" spc="-25">
                <a:solidFill>
                  <a:srgbClr val="2B2B2B"/>
                </a:solidFill>
                <a:latin typeface="Consolas"/>
                <a:cs typeface="Consolas"/>
              </a:rPr>
              <a:t>Nn</a:t>
            </a:r>
            <a:r>
              <a:rPr dirty="0" sz="850">
                <a:solidFill>
                  <a:srgbClr val="2B2B2B"/>
                </a:solidFill>
                <a:latin typeface="Consolas"/>
                <a:cs typeface="Consolas"/>
              </a:rPr>
              <a:t>	</a:t>
            </a:r>
            <a:r>
              <a:rPr dirty="0" sz="850" spc="-90">
                <a:solidFill>
                  <a:srgbClr val="262626"/>
                </a:solidFill>
                <a:latin typeface="Consolas"/>
                <a:cs typeface="Consolas"/>
              </a:rPr>
              <a:t>Yes</a:t>
            </a:r>
            <a:endParaRPr sz="8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1C1C1C"/>
                </a:solidFill>
                <a:latin typeface="Trebuchet MS"/>
                <a:cs typeface="Trebuchet MS"/>
              </a:rPr>
              <a:t>Subscription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36098" y="4087006"/>
            <a:ext cx="675005" cy="638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  <a:tabLst>
                <a:tab pos="528320" algn="l"/>
              </a:tabLst>
            </a:pPr>
            <a:r>
              <a:rPr dirty="0" sz="900" spc="-25">
                <a:solidFill>
                  <a:srgbClr val="606060"/>
                </a:solidFill>
                <a:latin typeface="Trebuchet MS"/>
                <a:cs typeface="Trebuchet MS"/>
              </a:rPr>
              <a:t>No</a:t>
            </a:r>
            <a:r>
              <a:rPr dirty="0" sz="900">
                <a:solidFill>
                  <a:srgbClr val="606060"/>
                </a:solidFill>
                <a:latin typeface="Trebuchet MS"/>
                <a:cs typeface="Trebuchet MS"/>
              </a:rPr>
              <a:t>	</a:t>
            </a:r>
            <a:r>
              <a:rPr dirty="0" sz="900" spc="-95">
                <a:solidFill>
                  <a:srgbClr val="262626"/>
                </a:solidFill>
                <a:latin typeface="Trebuchet MS"/>
                <a:cs typeface="Trebuchet MS"/>
              </a:rPr>
              <a:t>Yes</a:t>
            </a:r>
            <a:endParaRPr sz="900">
              <a:latin typeface="Trebuchet MS"/>
              <a:cs typeface="Trebuchet MS"/>
            </a:endParaRPr>
          </a:p>
          <a:p>
            <a:pPr marL="102235" marR="76200" indent="-90170">
              <a:lnSpc>
                <a:spcPct val="173300"/>
              </a:lnSpc>
            </a:pPr>
            <a:r>
              <a:rPr dirty="0" sz="900" spc="-10">
                <a:solidFill>
                  <a:srgbClr val="1C1C1C"/>
                </a:solidFill>
                <a:latin typeface="Trebuchet MS"/>
                <a:cs typeface="Trebuchet MS"/>
              </a:rPr>
              <a:t>Category </a:t>
            </a:r>
            <a:r>
              <a:rPr dirty="0" sz="900" spc="-80">
                <a:solidFill>
                  <a:srgbClr val="363636"/>
                </a:solidFill>
                <a:latin typeface="Trebuchet MS"/>
                <a:cs typeface="Trebuchet MS"/>
              </a:rPr>
              <a:t>Accessories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521715" y="4900802"/>
            <a:ext cx="426720" cy="496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45">
                <a:solidFill>
                  <a:srgbClr val="4B4B4B"/>
                </a:solidFill>
                <a:latin typeface="Trebuchet MS"/>
                <a:cs typeface="Trebuchet MS"/>
              </a:rPr>
              <a:t>ClothinCj</a:t>
            </a:r>
            <a:endParaRPr sz="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850">
              <a:latin typeface="Trebuchet MS"/>
              <a:cs typeface="Trebuchet MS"/>
            </a:endParaRPr>
          </a:p>
          <a:p>
            <a:pPr marL="14604">
              <a:lnSpc>
                <a:spcPct val="100000"/>
              </a:lnSpc>
              <a:spcBef>
                <a:spcPts val="5"/>
              </a:spcBef>
            </a:pPr>
            <a:r>
              <a:rPr dirty="0" sz="850" spc="-55">
                <a:solidFill>
                  <a:srgbClr val="282828"/>
                </a:solidFill>
                <a:latin typeface="Trebuchet MS"/>
                <a:cs typeface="Trebuchet MS"/>
              </a:rPr>
              <a:t>Footwear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436098" y="5933473"/>
            <a:ext cx="664210" cy="60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2D2D2D"/>
                </a:solidFill>
                <a:latin typeface="Trebuchet MS"/>
                <a:cs typeface="Trebuchet MS"/>
              </a:rPr>
              <a:t>Shipping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850">
                <a:solidFill>
                  <a:srgbClr val="7C7C7C"/>
                </a:solidFill>
                <a:latin typeface="Trebuchet MS"/>
                <a:cs typeface="Trebuchet MS"/>
              </a:rPr>
              <a:t>O</a:t>
            </a:r>
            <a:r>
              <a:rPr dirty="0" sz="850" spc="455">
                <a:solidFill>
                  <a:srgbClr val="7C7C7C"/>
                </a:solidFill>
                <a:latin typeface="Trebuchet MS"/>
                <a:cs typeface="Trebuchet MS"/>
              </a:rPr>
              <a:t> </a:t>
            </a:r>
            <a:r>
              <a:rPr dirty="0" sz="850" spc="-30">
                <a:solidFill>
                  <a:srgbClr val="242424"/>
                </a:solidFill>
                <a:latin typeface="Trebuchet MS"/>
                <a:cs typeface="Trebuchet MS"/>
              </a:rPr>
              <a:t>2-</a:t>
            </a:r>
            <a:r>
              <a:rPr dirty="0" sz="850" spc="-30">
                <a:solidFill>
                  <a:srgbClr val="2D2D2D"/>
                </a:solidFill>
                <a:latin typeface="Trebuchet MS"/>
                <a:cs typeface="Trebuchet MS"/>
              </a:rPr>
              <a:t>Day</a:t>
            </a:r>
            <a:r>
              <a:rPr dirty="0" sz="850" spc="-5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850" spc="-45">
                <a:solidFill>
                  <a:srgbClr val="565656"/>
                </a:solidFill>
                <a:latin typeface="Trebuchet MS"/>
                <a:cs typeface="Trebuchet MS"/>
              </a:rPr>
              <a:t>Shi..</a:t>
            </a:r>
            <a:endParaRPr sz="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900">
                <a:solidFill>
                  <a:srgbClr val="757575"/>
                </a:solidFill>
                <a:latin typeface="Trebuchet MS"/>
                <a:cs typeface="Trebuchet MS"/>
              </a:rPr>
              <a:t>Q</a:t>
            </a:r>
            <a:r>
              <a:rPr dirty="0" sz="900" spc="380">
                <a:solidFill>
                  <a:srgbClr val="757575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363636"/>
                </a:solidFill>
                <a:latin typeface="Trebuchet MS"/>
                <a:cs typeface="Trebuchet MS"/>
              </a:rPr>
              <a:t>Express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166236" y="5933473"/>
            <a:ext cx="2211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8370" algn="l"/>
              </a:tabLst>
            </a:pPr>
            <a:r>
              <a:rPr dirty="0" u="heavy" sz="900">
                <a:solidFill>
                  <a:srgbClr val="2D2D2D"/>
                </a:solidFill>
                <a:uFill>
                  <a:solidFill>
                    <a:srgbClr val="2880C8"/>
                  </a:solidFill>
                </a:uFill>
                <a:latin typeface="Trebuchet MS"/>
                <a:cs typeface="Trebuchet MS"/>
              </a:rPr>
              <a:t>	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812304" y="3530013"/>
            <a:ext cx="1511935" cy="8636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294005">
              <a:lnSpc>
                <a:spcPct val="100000"/>
              </a:lnSpc>
              <a:spcBef>
                <a:spcPts val="295"/>
              </a:spcBef>
            </a:pPr>
            <a:r>
              <a:rPr dirty="0" sz="2500" spc="-25">
                <a:solidFill>
                  <a:srgbClr val="34A5FF"/>
                </a:solidFill>
                <a:latin typeface="Trebuchet MS"/>
                <a:cs typeface="Trebuchet MS"/>
              </a:rPr>
              <a:t>324</a:t>
            </a:r>
            <a:endParaRPr sz="2500">
              <a:latin typeface="Trebuchet MS"/>
              <a:cs typeface="Trebuchet MS"/>
            </a:endParaRPr>
          </a:p>
          <a:p>
            <a:pPr algn="ctr" marL="283210">
              <a:lnSpc>
                <a:spcPct val="100000"/>
              </a:lnSpc>
              <a:spcBef>
                <a:spcPts val="80"/>
              </a:spcBef>
            </a:pPr>
            <a:r>
              <a:rPr dirty="0" sz="1050" spc="-100">
                <a:solidFill>
                  <a:srgbClr val="2B2B2B"/>
                </a:solidFill>
                <a:latin typeface="Trebuchet MS"/>
                <a:cs typeface="Trebuchet MS"/>
              </a:rPr>
              <a:t>Number</a:t>
            </a:r>
            <a:r>
              <a:rPr dirty="0" sz="1050" spc="55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1050" spc="-150">
                <a:solidFill>
                  <a:srgbClr val="3A3A3A"/>
                </a:solidFill>
                <a:latin typeface="Trebuchet MS"/>
                <a:cs typeface="Trebuchet MS"/>
              </a:rPr>
              <a:t>of</a:t>
            </a:r>
            <a:r>
              <a:rPr dirty="0" sz="1050" spc="-35">
                <a:solidFill>
                  <a:srgbClr val="3A3A3A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1F1F1F"/>
                </a:solidFill>
                <a:latin typeface="Trebuchet MS"/>
                <a:cs typeface="Trebuchet MS"/>
              </a:rPr>
              <a:t>customers</a:t>
            </a:r>
            <a:endParaRPr sz="1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50" spc="-25" i="1">
                <a:solidFill>
                  <a:srgbClr val="212121"/>
                </a:solidFill>
                <a:latin typeface="Calibri"/>
                <a:cs typeface="Calibri"/>
              </a:rPr>
              <a:t>SUBSCRIPTION</a:t>
            </a:r>
            <a:r>
              <a:rPr dirty="0" sz="1050" spc="90" i="1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050" spc="-30" i="1">
                <a:solidFill>
                  <a:srgbClr val="1A1A1A"/>
                </a:solidFill>
                <a:latin typeface="Calibri"/>
                <a:cs typeface="Calibri"/>
              </a:rPr>
              <a:t>PERCENTA'SE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099940" y="1101134"/>
            <a:ext cx="2423160" cy="90424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283845">
              <a:lnSpc>
                <a:spcPct val="100000"/>
              </a:lnSpc>
              <a:spcBef>
                <a:spcPts val="980"/>
              </a:spcBef>
            </a:pPr>
            <a:r>
              <a:rPr dirty="0" sz="1550" spc="50">
                <a:solidFill>
                  <a:srgbClr val="2A2A2A"/>
                </a:solidFill>
                <a:latin typeface="Trebuchet MS"/>
                <a:cs typeface="Trebuchet MS"/>
              </a:rPr>
              <a:t>Dynamic</a:t>
            </a:r>
            <a:r>
              <a:rPr dirty="0" sz="1550" spc="45">
                <a:solidFill>
                  <a:srgbClr val="2A2A2A"/>
                </a:solidFill>
                <a:latin typeface="Trebuchet MS"/>
                <a:cs typeface="Trebuchet MS"/>
              </a:rPr>
              <a:t> </a:t>
            </a:r>
            <a:r>
              <a:rPr dirty="0" sz="1550" spc="-10">
                <a:solidFill>
                  <a:srgbClr val="2A2A2A"/>
                </a:solidFill>
                <a:latin typeface="Trebuchet MS"/>
                <a:cs typeface="Trebuchet MS"/>
              </a:rPr>
              <a:t>Filters</a:t>
            </a:r>
            <a:endParaRPr sz="1550">
              <a:latin typeface="Trebuchet MS"/>
              <a:cs typeface="Trebuchet MS"/>
            </a:endParaRPr>
          </a:p>
          <a:p>
            <a:pPr marL="12700" marR="5080" indent="5080">
              <a:lnSpc>
                <a:spcPct val="120000"/>
              </a:lnSpc>
              <a:spcBef>
                <a:spcPts val="430"/>
              </a:spcBef>
            </a:pPr>
            <a:r>
              <a:rPr dirty="0" sz="1300" spc="-110">
                <a:solidFill>
                  <a:srgbClr val="242424"/>
                </a:solidFill>
                <a:latin typeface="Trebuchet MS"/>
                <a:cs typeface="Trebuchet MS"/>
              </a:rPr>
              <a:t>Filter</a:t>
            </a:r>
            <a:r>
              <a:rPr dirty="0" sz="1300" spc="-45">
                <a:solidFill>
                  <a:srgbClr val="242424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1F1F1F"/>
                </a:solidFill>
                <a:latin typeface="Trebuchet MS"/>
                <a:cs typeface="Trebuchet MS"/>
              </a:rPr>
              <a:t>by</a:t>
            </a:r>
            <a:r>
              <a:rPr dirty="0" sz="1300" spc="-5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300" spc="-110">
                <a:solidFill>
                  <a:srgbClr val="1F1F1F"/>
                </a:solidFill>
                <a:latin typeface="Trebuchet MS"/>
                <a:cs typeface="Trebuchet MS"/>
              </a:rPr>
              <a:t>category,</a:t>
            </a:r>
            <a:r>
              <a:rPr dirty="0" sz="1300" spc="-12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300" spc="-75">
                <a:solidFill>
                  <a:srgbClr val="181818"/>
                </a:solidFill>
                <a:latin typeface="Trebuchet MS"/>
                <a:cs typeface="Trebuchet MS"/>
              </a:rPr>
              <a:t>subscription</a:t>
            </a:r>
            <a:r>
              <a:rPr dirty="0" sz="1300" spc="3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1300" spc="-65">
                <a:solidFill>
                  <a:srgbClr val="1A1A1A"/>
                </a:solidFill>
                <a:latin typeface="Trebuchet MS"/>
                <a:cs typeface="Trebuchet MS"/>
              </a:rPr>
              <a:t>status </a:t>
            </a:r>
            <a:r>
              <a:rPr dirty="0" sz="1300" spc="-135">
                <a:solidFill>
                  <a:srgbClr val="2D2D2D"/>
                </a:solidFill>
                <a:latin typeface="Trebuchet MS"/>
                <a:cs typeface="Trebuchet MS"/>
              </a:rPr>
              <a:t>&amp;</a:t>
            </a:r>
            <a:r>
              <a:rPr dirty="0" sz="1300" spc="-9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1300" spc="-80">
                <a:solidFill>
                  <a:srgbClr val="1C1C1C"/>
                </a:solidFill>
                <a:latin typeface="Trebuchet MS"/>
                <a:cs typeface="Trebuchet MS"/>
              </a:rPr>
              <a:t>shipping</a:t>
            </a:r>
            <a:r>
              <a:rPr dirty="0" sz="1300" spc="-50">
                <a:solidFill>
                  <a:srgbClr val="1C1C1C"/>
                </a:solidFill>
                <a:latin typeface="Trebuchet MS"/>
                <a:cs typeface="Trebuchet MS"/>
              </a:rPr>
              <a:t> </a:t>
            </a:r>
            <a:r>
              <a:rPr dirty="0" sz="1300" spc="-20">
                <a:solidFill>
                  <a:srgbClr val="181818"/>
                </a:solidFill>
                <a:latin typeface="Trebuchet MS"/>
                <a:cs typeface="Trebuchet MS"/>
              </a:rPr>
              <a:t>type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620699" y="5659246"/>
            <a:ext cx="1092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262626"/>
                </a:solidFill>
                <a:latin typeface="Trebuchet MS"/>
                <a:cs typeface="Trebuchet MS"/>
              </a:rPr>
              <a:t>Revenue</a:t>
            </a:r>
            <a:r>
              <a:rPr dirty="0" sz="90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333333"/>
                </a:solidFill>
                <a:latin typeface="Trebuchet MS"/>
                <a:cs typeface="Trebuchet MS"/>
              </a:rPr>
              <a:t>by</a:t>
            </a:r>
            <a:r>
              <a:rPr dirty="0" sz="900" spc="-20">
                <a:solidFill>
                  <a:srgbClr val="333333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2B2B2B"/>
                </a:solidFill>
                <a:latin typeface="Trebuchet MS"/>
                <a:cs typeface="Trebuchet MS"/>
              </a:rPr>
              <a:t>Age</a:t>
            </a:r>
            <a:r>
              <a:rPr dirty="0" sz="900" spc="-50">
                <a:solidFill>
                  <a:srgbClr val="2B2B2B"/>
                </a:solidFill>
                <a:latin typeface="Trebuchet MS"/>
                <a:cs typeface="Trebuchet MS"/>
              </a:rPr>
              <a:t> </a:t>
            </a:r>
            <a:r>
              <a:rPr dirty="0" sz="900" spc="-35">
                <a:solidFill>
                  <a:srgbClr val="242424"/>
                </a:solidFill>
                <a:latin typeface="Trebuchet MS"/>
                <a:cs typeface="Trebuchet MS"/>
              </a:rPr>
              <a:t>Group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294101" y="3533895"/>
            <a:ext cx="1318895" cy="59817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dirty="0" sz="2450" spc="-10">
                <a:solidFill>
                  <a:srgbClr val="3D9EFF"/>
                </a:solidFill>
                <a:latin typeface="Arial MT"/>
                <a:cs typeface="Arial MT"/>
              </a:rPr>
              <a:t>$57.17</a:t>
            </a:r>
            <a:endParaRPr sz="24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50" spc="-114">
                <a:solidFill>
                  <a:srgbClr val="3D3D3D"/>
                </a:solidFill>
                <a:latin typeface="Trebuchet MS"/>
                <a:cs typeface="Trebuchet MS"/>
              </a:rPr>
              <a:t>Average</a:t>
            </a:r>
            <a:r>
              <a:rPr dirty="0" sz="1050" spc="35">
                <a:solidFill>
                  <a:srgbClr val="3D3D3D"/>
                </a:solidFill>
                <a:latin typeface="Trebuchet MS"/>
                <a:cs typeface="Trebuchet MS"/>
              </a:rPr>
              <a:t> </a:t>
            </a:r>
            <a:r>
              <a:rPr dirty="0" sz="1050" spc="-95">
                <a:solidFill>
                  <a:srgbClr val="525252"/>
                </a:solidFill>
                <a:latin typeface="Trebuchet MS"/>
                <a:cs typeface="Trebuchet MS"/>
              </a:rPr>
              <a:t>purchase</a:t>
            </a:r>
            <a:r>
              <a:rPr dirty="0" sz="1050" spc="75">
                <a:solidFill>
                  <a:srgbClr val="525252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343434"/>
                </a:solidFill>
                <a:latin typeface="Trebuchet MS"/>
                <a:cs typeface="Trebuchet MS"/>
              </a:rPr>
              <a:t>amount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228257" y="4293692"/>
            <a:ext cx="12642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 i="1">
                <a:solidFill>
                  <a:srgbClr val="2B2B2B"/>
                </a:solidFill>
                <a:latin typeface="Calibri"/>
                <a:cs typeface="Calibri"/>
              </a:rPr>
              <a:t>P£VE/VL/£</a:t>
            </a:r>
            <a:r>
              <a:rPr dirty="0" sz="1000" spc="35" i="1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464646"/>
                </a:solidFill>
                <a:latin typeface="Calibri"/>
                <a:cs typeface="Calibri"/>
              </a:rPr>
              <a:t>BY</a:t>
            </a:r>
            <a:r>
              <a:rPr dirty="0" sz="1000" spc="-25" i="1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262626"/>
                </a:solidFill>
                <a:latin typeface="Calibri"/>
                <a:cs typeface="Calibri"/>
              </a:rPr>
              <a:t>CATEGORY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875570" y="1088770"/>
            <a:ext cx="2226310" cy="91503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080"/>
              </a:spcBef>
            </a:pPr>
            <a:r>
              <a:rPr dirty="0" sz="1550">
                <a:solidFill>
                  <a:srgbClr val="262626"/>
                </a:solidFill>
                <a:latin typeface="Trebuchet MS"/>
                <a:cs typeface="Trebuchet MS"/>
              </a:rPr>
              <a:t>Visual</a:t>
            </a:r>
            <a:r>
              <a:rPr dirty="0" sz="1550" spc="8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dirty="0" sz="1550" spc="50">
                <a:solidFill>
                  <a:srgbClr val="1F1F1F"/>
                </a:solidFill>
                <a:latin typeface="Trebuchet MS"/>
                <a:cs typeface="Trebuchet MS"/>
              </a:rPr>
              <a:t>Insights</a:t>
            </a:r>
            <a:endParaRPr sz="1550">
              <a:latin typeface="Trebuchet MS"/>
              <a:cs typeface="Trebuchet MS"/>
            </a:endParaRPr>
          </a:p>
          <a:p>
            <a:pPr marL="12700" marR="5080" indent="3175">
              <a:lnSpc>
                <a:spcPct val="124800"/>
              </a:lnSpc>
              <a:spcBef>
                <a:spcPts val="420"/>
              </a:spcBef>
            </a:pPr>
            <a:r>
              <a:rPr dirty="0" sz="1250" spc="-85">
                <a:solidFill>
                  <a:srgbClr val="212121"/>
                </a:solidFill>
                <a:latin typeface="Consolas"/>
                <a:cs typeface="Consolas"/>
              </a:rPr>
              <a:t>Chats,</a:t>
            </a:r>
            <a:r>
              <a:rPr dirty="0" sz="1250" spc="-48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1250" spc="-25">
                <a:solidFill>
                  <a:srgbClr val="1C1C1C"/>
                </a:solidFill>
                <a:latin typeface="Consolas"/>
                <a:cs typeface="Consolas"/>
              </a:rPr>
              <a:t>breakdowns&amp;trendvews </a:t>
            </a:r>
            <a:r>
              <a:rPr dirty="0" sz="1250" spc="-10">
                <a:solidFill>
                  <a:srgbClr val="212121"/>
                </a:solidFill>
                <a:latin typeface="Consolas"/>
                <a:cs typeface="Consolas"/>
              </a:rPr>
              <a:t>acrossa(segments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137487" y="5659246"/>
            <a:ext cx="9347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63636"/>
                </a:solidFill>
                <a:latin typeface="Trebuchet MS"/>
                <a:cs typeface="Trebuchet MS"/>
              </a:rPr>
              <a:t>Sales</a:t>
            </a:r>
            <a:r>
              <a:rPr dirty="0" sz="900" spc="-60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313131"/>
                </a:solidFill>
                <a:latin typeface="Trebuchet MS"/>
                <a:cs typeface="Trebuchet MS"/>
              </a:rPr>
              <a:t>by</a:t>
            </a:r>
            <a:r>
              <a:rPr dirty="0" sz="900" spc="-25">
                <a:solidFill>
                  <a:srgbClr val="313131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232323"/>
                </a:solidFill>
                <a:latin typeface="Trebuchet MS"/>
                <a:cs typeface="Trebuchet MS"/>
              </a:rPr>
              <a:t>Age</a:t>
            </a:r>
            <a:r>
              <a:rPr dirty="0" sz="900" spc="-50">
                <a:solidFill>
                  <a:srgbClr val="232323"/>
                </a:solidFill>
                <a:latin typeface="Trebuchet MS"/>
                <a:cs typeface="Trebuchet MS"/>
              </a:rPr>
              <a:t> </a:t>
            </a:r>
            <a:r>
              <a:rPr dirty="0" sz="900" spc="-55">
                <a:solidFill>
                  <a:srgbClr val="363636"/>
                </a:solidFill>
                <a:latin typeface="Trebuchet MS"/>
                <a:cs typeface="Trebuchet MS"/>
              </a:rPr>
              <a:t>Group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182823" y="6130765"/>
            <a:ext cx="236854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solidFill>
                  <a:srgbClr val="7C7C7C"/>
                </a:solidFill>
                <a:latin typeface="Trebuchet MS"/>
                <a:cs typeface="Trebuchet MS"/>
              </a:rPr>
              <a:t>fl.1i':!</a:t>
            </a:r>
            <a:r>
              <a:rPr dirty="0" sz="450">
                <a:solidFill>
                  <a:srgbClr val="7C7C7C"/>
                </a:solidFill>
                <a:latin typeface="Trebuchet MS"/>
                <a:cs typeface="Trebuchet MS"/>
              </a:rPr>
              <a:t> </a:t>
            </a:r>
            <a:r>
              <a:rPr dirty="0" sz="450" spc="-35">
                <a:solidFill>
                  <a:srgbClr val="939393"/>
                </a:solidFill>
                <a:latin typeface="Trebuchet MS"/>
                <a:cs typeface="Trebuchet MS"/>
              </a:rPr>
              <a:t>.1</a:t>
            </a:r>
            <a:r>
              <a:rPr dirty="0" sz="450" spc="-35">
                <a:solidFill>
                  <a:srgbClr val="7E7E7E"/>
                </a:solidFill>
                <a:latin typeface="Trebuchet MS"/>
                <a:cs typeface="Trebuchet MS"/>
              </a:rPr>
              <a:t>I'</a:t>
            </a:r>
            <a:r>
              <a:rPr dirty="0" sz="450" spc="5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dirty="0" sz="450" spc="-50">
                <a:solidFill>
                  <a:srgbClr val="898989"/>
                </a:solidFill>
                <a:latin typeface="Trebuchet MS"/>
                <a:cs typeface="Trebuchet MS"/>
              </a:rPr>
              <a:t>'</a:t>
            </a:r>
            <a:endParaRPr sz="450">
              <a:latin typeface="Trebuchet MS"/>
              <a:cs typeface="Trebuchet M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647844" y="3530013"/>
            <a:ext cx="1092200" cy="60198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295"/>
              </a:spcBef>
            </a:pPr>
            <a:r>
              <a:rPr dirty="0" sz="2500" spc="-20">
                <a:solidFill>
                  <a:srgbClr val="41A7FF"/>
                </a:solidFill>
                <a:latin typeface="Trebuchet MS"/>
                <a:cs typeface="Trebuchet MS"/>
              </a:rPr>
              <a:t>3.75</a:t>
            </a:r>
            <a:endParaRPr sz="2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050" spc="-120">
                <a:solidFill>
                  <a:srgbClr val="363636"/>
                </a:solidFill>
                <a:latin typeface="Trebuchet MS"/>
                <a:cs typeface="Trebuchet MS"/>
              </a:rPr>
              <a:t>Average</a:t>
            </a:r>
            <a:r>
              <a:rPr dirty="0" sz="1050" spc="75">
                <a:solidFill>
                  <a:srgbClr val="363636"/>
                </a:solidFill>
                <a:latin typeface="Trebuchet MS"/>
                <a:cs typeface="Trebuchet MS"/>
              </a:rPr>
              <a:t> </a:t>
            </a:r>
            <a:r>
              <a:rPr dirty="0" sz="1050" spc="-114">
                <a:solidFill>
                  <a:srgbClr val="1F1F1F"/>
                </a:solidFill>
                <a:latin typeface="Trebuchet MS"/>
                <a:cs typeface="Trebuchet MS"/>
              </a:rPr>
              <a:t>review</a:t>
            </a:r>
            <a:r>
              <a:rPr dirty="0" sz="1050" spc="30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3B3B3B"/>
                </a:solidFill>
                <a:latin typeface="Trebuchet MS"/>
                <a:cs typeface="Trebuchet MS"/>
              </a:rPr>
              <a:t>rating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682803" y="4244687"/>
            <a:ext cx="10763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45" i="1">
                <a:solidFill>
                  <a:srgbClr val="181818"/>
                </a:solidFill>
                <a:latin typeface="Calibri"/>
                <a:cs typeface="Calibri"/>
              </a:rPr>
              <a:t>5AL£S</a:t>
            </a:r>
            <a:r>
              <a:rPr dirty="0" sz="1050" spc="10" i="1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050" spc="-50" i="1">
                <a:solidFill>
                  <a:srgbClr val="3A3A3A"/>
                </a:solidFill>
                <a:latin typeface="Calibri"/>
                <a:cs typeface="Calibri"/>
              </a:rPr>
              <a:t>BY</a:t>
            </a:r>
            <a:r>
              <a:rPr dirty="0" sz="1050" spc="-10" i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2F2F2F"/>
                </a:solidFill>
                <a:latin typeface="Calibri"/>
                <a:cs typeface="Calibri"/>
              </a:rPr>
              <a:t>CATEGORY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850" y="2833687"/>
            <a:ext cx="4638751" cy="463749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22703" y="1255354"/>
            <a:ext cx="896053" cy="3534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23053" y="1200508"/>
            <a:ext cx="3578117" cy="4631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135"/>
              <a:t> </a:t>
            </a:r>
            <a:r>
              <a:rPr dirty="0" spc="-75"/>
              <a:t>Metrics</a:t>
            </a: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581956" y="1829277"/>
          <a:ext cx="7760334" cy="72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5055"/>
                <a:gridCol w="2757170"/>
                <a:gridCol w="2582545"/>
              </a:tblGrid>
              <a:tr h="271780">
                <a:tc>
                  <a:txBody>
                    <a:bodyPr/>
                    <a:lstStyle/>
                    <a:p>
                      <a:pPr algn="ctr" marR="180975">
                        <a:lnSpc>
                          <a:spcPts val="1764"/>
                        </a:lnSpc>
                      </a:pPr>
                      <a:r>
                        <a:rPr dirty="0" sz="1550" spc="-9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r>
                        <a:rPr dirty="0" sz="1550" spc="-1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Customers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0">
                        <a:lnSpc>
                          <a:spcPts val="1764"/>
                        </a:lnSpc>
                      </a:pPr>
                      <a:r>
                        <a:rPr dirty="0" sz="1550" spc="-2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Avg.</a:t>
                      </a:r>
                      <a:r>
                        <a:rPr dirty="0" sz="1550" spc="-24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Purchase</a:t>
                      </a:r>
                      <a:r>
                        <a:rPr dirty="0" sz="1550" spc="-5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2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0">
                        <a:lnSpc>
                          <a:spcPts val="1764"/>
                        </a:lnSpc>
                      </a:pPr>
                      <a:r>
                        <a:rPr dirty="0" sz="155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Avg.</a:t>
                      </a:r>
                      <a:r>
                        <a:rPr dirty="0" sz="1550" spc="-245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550" spc="-10">
                          <a:solidFill>
                            <a:srgbClr val="242424"/>
                          </a:solidFill>
                          <a:latin typeface="Trebuchet MS"/>
                          <a:cs typeface="Trebuchet MS"/>
                        </a:rPr>
                        <a:t>Rating</a:t>
                      </a:r>
                      <a:endParaRPr sz="1550">
                        <a:latin typeface="Trebuchet MS"/>
                        <a:cs typeface="Trebuchet MS"/>
                      </a:endParaRPr>
                    </a:p>
                  </a:txBody>
                  <a:tcPr marL="0" marR="0" marB="0" marT="0"/>
                </a:tc>
              </a:tr>
              <a:tr h="248285">
                <a:tc>
                  <a:txBody>
                    <a:bodyPr/>
                    <a:lstStyle/>
                    <a:p>
                      <a:pPr algn="ctr" marR="1758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250" spc="-100">
                          <a:solidFill>
                            <a:srgbClr val="2A2A2A"/>
                          </a:solidFill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dirty="0" sz="1250" spc="-45">
                          <a:solidFill>
                            <a:srgbClr val="2A2A2A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customer</a:t>
                      </a:r>
                      <a:r>
                        <a:rPr dirty="0" sz="1250" spc="15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records</a:t>
                      </a:r>
                      <a:r>
                        <a:rPr dirty="0" sz="1250" spc="-30">
                          <a:solidFill>
                            <a:srgbClr val="21212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analysed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L="692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250" spc="-125">
                          <a:solidFill>
                            <a:srgbClr val="1C1C1C"/>
                          </a:solidFill>
                          <a:latin typeface="Trebuchet MS"/>
                          <a:cs typeface="Trebuchet MS"/>
                        </a:rPr>
                        <a:t>Average</a:t>
                      </a:r>
                      <a:r>
                        <a:rPr dirty="0" sz="1250" spc="-20">
                          <a:solidFill>
                            <a:srgbClr val="1C1C1C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5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transaction</a:t>
                      </a:r>
                      <a:r>
                        <a:rPr dirty="0" sz="1250" spc="7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4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dirty="0" sz="1250" spc="-5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4">
                          <a:solidFill>
                            <a:srgbClr val="232323"/>
                          </a:solidFill>
                          <a:latin typeface="Trebuchet MS"/>
                          <a:cs typeface="Trebuchet MS"/>
                        </a:rPr>
                        <a:t>per</a:t>
                      </a:r>
                      <a:r>
                        <a:rPr dirty="0" sz="1250" spc="-90">
                          <a:solidFill>
                            <a:srgbClr val="23232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1C1C1C"/>
                          </a:solidFill>
                          <a:latin typeface="Trebuchet MS"/>
                          <a:cs typeface="Trebuchet MS"/>
                        </a:rPr>
                        <a:t>customer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 algn="ctr" marL="11366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250" spc="-130">
                          <a:solidFill>
                            <a:srgbClr val="333333"/>
                          </a:solidFill>
                          <a:latin typeface="Trebuchet MS"/>
                          <a:cs typeface="Trebuchet MS"/>
                        </a:rPr>
                        <a:t>Mean</a:t>
                      </a:r>
                      <a:r>
                        <a:rPr dirty="0" sz="1250" spc="-60">
                          <a:solidFill>
                            <a:srgbClr val="333333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1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customer</a:t>
                      </a:r>
                      <a:r>
                        <a:rPr dirty="0" sz="1250" spc="20">
                          <a:solidFill>
                            <a:srgbClr val="28282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satisfaction</a:t>
                      </a:r>
                      <a:r>
                        <a:rPr dirty="0" sz="1250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score</a:t>
                      </a:r>
                      <a:r>
                        <a:rPr dirty="0" sz="1250" spc="-75">
                          <a:solidFill>
                            <a:srgbClr val="2B2B2B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80">
                          <a:solidFill>
                            <a:srgbClr val="2D2D2D"/>
                          </a:solidFill>
                          <a:latin typeface="Trebuchet MS"/>
                          <a:cs typeface="Trebuchet MS"/>
                        </a:rPr>
                        <a:t>out</a:t>
                      </a:r>
                      <a:r>
                        <a:rPr dirty="0" sz="1250" spc="-140">
                          <a:solidFill>
                            <a:srgbClr val="2D2D2D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25">
                          <a:solidFill>
                            <a:srgbClr val="363636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33655"/>
                </a:tc>
              </a:tr>
              <a:tr h="204470">
                <a:tc>
                  <a:txBody>
                    <a:bodyPr/>
                    <a:lstStyle/>
                    <a:p>
                      <a:pPr algn="ctr" marR="173990">
                        <a:lnSpc>
                          <a:spcPts val="1430"/>
                        </a:lnSpc>
                        <a:spcBef>
                          <a:spcPts val="85"/>
                        </a:spcBef>
                      </a:pPr>
                      <a:r>
                        <a:rPr dirty="0" sz="1250" spc="-85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across</a:t>
                      </a:r>
                      <a:r>
                        <a:rPr dirty="0" sz="1250" spc="-45">
                          <a:solidFill>
                            <a:srgbClr val="26262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45">
                          <a:solidFill>
                            <a:srgbClr val="313131"/>
                          </a:solidFill>
                          <a:latin typeface="Trebuchet MS"/>
                          <a:cs typeface="Trebuchet MS"/>
                        </a:rPr>
                        <a:t>alt</a:t>
                      </a:r>
                      <a:r>
                        <a:rPr dirty="0" sz="1250" spc="-105">
                          <a:solidFill>
                            <a:srgbClr val="31313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1F1F1F"/>
                          </a:solidFill>
                          <a:latin typeface="Trebuchet MS"/>
                          <a:cs typeface="Trebuchet MS"/>
                        </a:rPr>
                        <a:t>segments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algn="ctr" marL="70485">
                        <a:lnSpc>
                          <a:spcPts val="1430"/>
                        </a:lnSpc>
                        <a:spcBef>
                          <a:spcPts val="85"/>
                        </a:spcBef>
                      </a:pPr>
                      <a:r>
                        <a:rPr dirty="0" sz="1250" spc="-90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dirty="0" sz="1250" spc="-120">
                          <a:solidFill>
                            <a:srgbClr val="383838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250" spc="-10">
                          <a:solidFill>
                            <a:srgbClr val="1A1A1A"/>
                          </a:solidFill>
                          <a:latin typeface="Trebuchet MS"/>
                          <a:cs typeface="Trebuchet MS"/>
                        </a:rPr>
                        <a:t>t5T,17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algn="ctr" marL="88900">
                        <a:lnSpc>
                          <a:spcPts val="1430"/>
                        </a:lnSpc>
                        <a:spcBef>
                          <a:spcPts val="85"/>
                        </a:spcBef>
                      </a:pPr>
                      <a:r>
                        <a:rPr dirty="0" sz="1250" spc="-25">
                          <a:solidFill>
                            <a:srgbClr val="232323"/>
                          </a:solidFill>
                          <a:latin typeface="Trebuchet MS"/>
                          <a:cs typeface="Trebuchet MS"/>
                        </a:rPr>
                        <a:t>5.0</a:t>
                      </a:r>
                      <a:endParaRPr sz="1250">
                        <a:latin typeface="Trebuchet MS"/>
                        <a:cs typeface="Trebuchet MS"/>
                      </a:endParaRPr>
                    </a:p>
                  </a:txBody>
                  <a:tcPr marL="0" marR="0" marB="0" marT="10795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7100973" y="4922130"/>
            <a:ext cx="1251585" cy="370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383838"/>
                </a:solidFill>
                <a:latin typeface="Trebuchet MS"/>
                <a:cs typeface="Trebuchet MS"/>
              </a:rPr>
              <a:t>'c</a:t>
            </a:r>
            <a:r>
              <a:rPr dirty="0" sz="850" spc="125">
                <a:solidFill>
                  <a:srgbClr val="383838"/>
                </a:solidFill>
                <a:latin typeface="Trebuchet MS"/>
                <a:cs typeface="Trebuchet MS"/>
              </a:rPr>
              <a:t> </a:t>
            </a:r>
            <a:r>
              <a:rPr dirty="0" sz="850" spc="-35">
                <a:solidFill>
                  <a:srgbClr val="1F1F1F"/>
                </a:solidFill>
                <a:latin typeface="Trebuchet MS"/>
                <a:cs typeface="Trebuchet MS"/>
              </a:rPr>
              <a:t>Non-</a:t>
            </a:r>
            <a:r>
              <a:rPr dirty="0" sz="850" spc="-30">
                <a:solidFill>
                  <a:srgbClr val="1F1F1F"/>
                </a:solidFill>
                <a:latin typeface="Trebuchet MS"/>
                <a:cs typeface="Trebuchet MS"/>
              </a:rPr>
              <a:t>Subscribers</a:t>
            </a:r>
            <a:r>
              <a:rPr dirty="0" sz="850" spc="-135">
                <a:solidFill>
                  <a:srgbClr val="1F1F1F"/>
                </a:solidFill>
                <a:latin typeface="Trebuchet MS"/>
                <a:cs typeface="Trebuchet MS"/>
              </a:rPr>
              <a:t> </a:t>
            </a:r>
            <a:r>
              <a:rPr dirty="0" sz="850">
                <a:solidFill>
                  <a:srgbClr val="424242"/>
                </a:solidFill>
                <a:latin typeface="Trebuchet MS"/>
                <a:cs typeface="Trebuchet MS"/>
              </a:rPr>
              <a:t>'</a:t>
            </a:r>
            <a:r>
              <a:rPr dirty="0" sz="850" spc="240">
                <a:solidFill>
                  <a:srgbClr val="424242"/>
                </a:solidFill>
                <a:latin typeface="Trebuchet MS"/>
                <a:cs typeface="Trebuchet MS"/>
              </a:rPr>
              <a:t> </a:t>
            </a:r>
            <a:r>
              <a:rPr dirty="0" sz="850" spc="-40">
                <a:solidFill>
                  <a:srgbClr val="2D2D2D"/>
                </a:solidFill>
                <a:latin typeface="Trebuchet MS"/>
                <a:cs typeface="Trebuchet MS"/>
              </a:rPr>
              <a:t>71.91%</a:t>
            </a:r>
            <a:endParaRPr sz="8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  <a:spcBef>
                <a:spcPts val="855"/>
              </a:spcBef>
            </a:pPr>
            <a:r>
              <a:rPr dirty="0" sz="700">
                <a:solidFill>
                  <a:srgbClr val="646464"/>
                </a:solidFill>
                <a:latin typeface="Trebuchet MS"/>
                <a:cs typeface="Trebuchet MS"/>
              </a:rPr>
              <a:t>*h</a:t>
            </a:r>
            <a:r>
              <a:rPr dirty="0" sz="700" spc="190">
                <a:solidFill>
                  <a:srgbClr val="646464"/>
                </a:solidFill>
                <a:latin typeface="Trebuchet MS"/>
                <a:cs typeface="Trebuchet MS"/>
              </a:rPr>
              <a:t> </a:t>
            </a:r>
            <a:r>
              <a:rPr dirty="0" sz="700">
                <a:solidFill>
                  <a:srgbClr val="262626"/>
                </a:solidFill>
                <a:latin typeface="Trebuchet MS"/>
                <a:cs typeface="Trebuchet MS"/>
              </a:rPr>
              <a:t>Subscribers</a:t>
            </a:r>
            <a:r>
              <a:rPr dirty="0" sz="700" spc="300">
                <a:solidFill>
                  <a:srgbClr val="262626"/>
                </a:solidFill>
                <a:latin typeface="Trebuchet MS"/>
                <a:cs typeface="Trebuchet MS"/>
              </a:rPr>
              <a:t>  </a:t>
            </a:r>
            <a:r>
              <a:rPr dirty="0" sz="700" spc="-10">
                <a:solidFill>
                  <a:srgbClr val="282828"/>
                </a:solidFill>
                <a:latin typeface="Trebuchet MS"/>
                <a:cs typeface="Trebuchet MS"/>
              </a:rPr>
              <a:t>28.09%+</a:t>
            </a:r>
            <a:endParaRPr sz="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106" y="4189545"/>
            <a:ext cx="2145996" cy="21448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203" y="2002072"/>
            <a:ext cx="2133803" cy="212654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1971" y="4189545"/>
            <a:ext cx="2152092" cy="215091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1971" y="1995978"/>
            <a:ext cx="2152092" cy="213872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4280" y="833687"/>
            <a:ext cx="2532380" cy="6045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800" spc="-70"/>
              <a:t>Key</a:t>
            </a:r>
            <a:r>
              <a:rPr dirty="0" sz="3800" spc="-295"/>
              <a:t> </a:t>
            </a:r>
            <a:r>
              <a:rPr dirty="0" sz="3800" spc="-10"/>
              <a:t>Insights</a:t>
            </a:r>
            <a:endParaRPr sz="3800"/>
          </a:p>
        </p:txBody>
      </p:sp>
      <p:sp>
        <p:nvSpPr>
          <p:cNvPr id="7" name="object 7" descr=""/>
          <p:cNvSpPr txBox="1"/>
          <p:nvPr/>
        </p:nvSpPr>
        <p:spPr>
          <a:xfrm>
            <a:off x="830602" y="3199896"/>
            <a:ext cx="1918335" cy="759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54075" indent="-213995">
              <a:lnSpc>
                <a:spcPts val="3190"/>
              </a:lnSpc>
              <a:spcBef>
                <a:spcPts val="95"/>
              </a:spcBef>
              <a:buSzPct val="96153"/>
              <a:buChar char="•"/>
              <a:tabLst>
                <a:tab pos="854075" algn="l"/>
              </a:tabLst>
            </a:pPr>
            <a:r>
              <a:rPr dirty="0" sz="2600" spc="370">
                <a:solidFill>
                  <a:srgbClr val="212121"/>
                </a:solidFill>
                <a:latin typeface="Trebuchet MS"/>
                <a:cs typeface="Trebuchet MS"/>
              </a:rPr>
              <a:t>72</a:t>
            </a:r>
            <a:r>
              <a:rPr dirty="0" baseline="22817" sz="4200" spc="555">
                <a:solidFill>
                  <a:srgbClr val="212121"/>
                </a:solidFill>
                <a:latin typeface="Trebuchet MS"/>
                <a:cs typeface="Trebuchet MS"/>
              </a:rPr>
              <a:t>O</a:t>
            </a:r>
            <a:r>
              <a:rPr dirty="0" sz="2600" spc="370">
                <a:solidFill>
                  <a:srgbClr val="212121"/>
                </a:solidFill>
                <a:latin typeface="Trebuchet MS"/>
                <a:cs typeface="Trebuchet MS"/>
              </a:rPr>
              <a:t>0</a:t>
            </a:r>
            <a:endParaRPr sz="2600">
              <a:latin typeface="Trebuchet MS"/>
              <a:cs typeface="Trebuchet MS"/>
            </a:endParaRPr>
          </a:p>
          <a:p>
            <a:pPr marL="38100">
              <a:lnSpc>
                <a:spcPts val="2590"/>
              </a:lnSpc>
            </a:pPr>
            <a:r>
              <a:rPr dirty="0" sz="2300" spc="-215">
                <a:solidFill>
                  <a:srgbClr val="2A2A2A"/>
                </a:solidFill>
                <a:latin typeface="Trebuchet MS"/>
                <a:cs typeface="Trebuchet MS"/>
              </a:rPr>
              <a:t>Non-</a:t>
            </a:r>
            <a:r>
              <a:rPr dirty="0" sz="2300" spc="-150">
                <a:solidFill>
                  <a:srgbClr val="2A2A2A"/>
                </a:solidFill>
                <a:latin typeface="Trebuchet MS"/>
                <a:cs typeface="Trebuchet MS"/>
              </a:rPr>
              <a:t>Subscribers.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12274" y="3225285"/>
            <a:ext cx="1755775" cy="734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2970"/>
              </a:lnSpc>
              <a:spcBef>
                <a:spcPts val="95"/>
              </a:spcBef>
            </a:pPr>
            <a:r>
              <a:rPr dirty="0" sz="2600" spc="-445">
                <a:solidFill>
                  <a:srgbClr val="0E0E0E"/>
                </a:solidFill>
                <a:latin typeface="Trebuchet MS"/>
                <a:cs typeface="Trebuchet MS"/>
              </a:rPr>
              <a:t>Outerwear</a:t>
            </a:r>
            <a:endParaRPr sz="2600">
              <a:latin typeface="Trebuchet MS"/>
              <a:cs typeface="Trebuchet MS"/>
            </a:endParaRPr>
          </a:p>
          <a:p>
            <a:pPr algn="r" marR="45085">
              <a:lnSpc>
                <a:spcPts val="2610"/>
              </a:lnSpc>
            </a:pPr>
            <a:r>
              <a:rPr dirty="0" sz="2300" spc="-45">
                <a:solidFill>
                  <a:srgbClr val="2D2D2D"/>
                </a:solidFill>
                <a:latin typeface="Trebuchet MS"/>
                <a:cs typeface="Trebuchet MS"/>
              </a:rPr>
              <a:t>Top</a:t>
            </a:r>
            <a:r>
              <a:rPr dirty="0" sz="2300" spc="-160">
                <a:solidFill>
                  <a:srgbClr val="2D2D2D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242424"/>
                </a:solidFill>
                <a:latin typeface="Trebuchet MS"/>
                <a:cs typeface="Trebuchet MS"/>
              </a:rPr>
              <a:t>Revenue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73600" y="4355073"/>
            <a:ext cx="50228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0">
                <a:latin typeface="Trebuchet MS"/>
                <a:cs typeface="Trebuchet MS"/>
              </a:rPr>
              <a:t>Senior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40004" y="4601596"/>
            <a:ext cx="1103630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130">
                <a:latin typeface="Trebuchet MS"/>
                <a:cs typeface="Trebuchet MS"/>
              </a:rPr>
              <a:t>Middle-</a:t>
            </a:r>
            <a:r>
              <a:rPr dirty="0" sz="1550" spc="-20">
                <a:latin typeface="Trebuchet MS"/>
                <a:cs typeface="Trebuchet MS"/>
              </a:rPr>
              <a:t>Aged</a:t>
            </a:r>
            <a:endParaRPr sz="1550">
              <a:latin typeface="Trebuchet MS"/>
              <a:cs typeface="Trebuchet MS"/>
            </a:endParaRPr>
          </a:p>
          <a:p>
            <a:pPr marL="488315">
              <a:lnSpc>
                <a:spcPct val="100000"/>
              </a:lnSpc>
              <a:spcBef>
                <a:spcPts val="1520"/>
              </a:spcBef>
            </a:pPr>
            <a:r>
              <a:rPr dirty="0" sz="1500" spc="-100">
                <a:latin typeface="Trebuchet MS"/>
                <a:cs typeface="Trebuchet MS"/>
              </a:rPr>
              <a:t>Younger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56205" y="5781400"/>
            <a:ext cx="180467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-245">
                <a:solidFill>
                  <a:srgbClr val="282828"/>
                </a:solidFill>
                <a:latin typeface="Trebuchet MS"/>
                <a:cs typeface="Trebuchet MS"/>
              </a:rPr>
              <a:t>Top</a:t>
            </a:r>
            <a:r>
              <a:rPr dirty="0" sz="2600" spc="-170">
                <a:solidFill>
                  <a:srgbClr val="282828"/>
                </a:solidFill>
                <a:latin typeface="Trebuchet MS"/>
                <a:cs typeface="Trebuchet MS"/>
              </a:rPr>
              <a:t> </a:t>
            </a:r>
            <a:r>
              <a:rPr dirty="0" sz="2600" spc="-90">
                <a:solidFill>
                  <a:srgbClr val="2A2A2A"/>
                </a:solidFill>
                <a:latin typeface="Trebuchet MS"/>
                <a:cs typeface="Trebuchet MS"/>
              </a:rPr>
              <a:t>Spenders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64179" y="2433925"/>
            <a:ext cx="31134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latin typeface="Trebuchet MS"/>
                <a:cs typeface="Trebuchet MS"/>
              </a:rPr>
              <a:t>What</a:t>
            </a:r>
            <a:r>
              <a:rPr dirty="0" sz="1850" spc="-85">
                <a:latin typeface="Trebuchet MS"/>
                <a:cs typeface="Trebuchet MS"/>
              </a:rPr>
              <a:t> </a:t>
            </a:r>
            <a:r>
              <a:rPr dirty="0" sz="1850">
                <a:latin typeface="Trebuchet MS"/>
                <a:cs typeface="Trebuchet MS"/>
              </a:rPr>
              <a:t>This</a:t>
            </a:r>
            <a:r>
              <a:rPr dirty="0" sz="1850" spc="10">
                <a:latin typeface="Trebuchet MS"/>
                <a:cs typeface="Trebuchet MS"/>
              </a:rPr>
              <a:t> </a:t>
            </a:r>
            <a:r>
              <a:rPr dirty="0" sz="1850">
                <a:latin typeface="Trebuchet MS"/>
                <a:cs typeface="Trebuchet MS"/>
              </a:rPr>
              <a:t>Means</a:t>
            </a:r>
            <a:r>
              <a:rPr dirty="0" sz="1850" spc="-75">
                <a:latin typeface="Trebuchet MS"/>
                <a:cs typeface="Trebuchet MS"/>
              </a:rPr>
              <a:t> </a:t>
            </a:r>
            <a:r>
              <a:rPr dirty="0" sz="1850" spc="-55">
                <a:latin typeface="Trebuchet MS"/>
                <a:cs typeface="Trebuchet MS"/>
              </a:rPr>
              <a:t>for</a:t>
            </a:r>
            <a:r>
              <a:rPr dirty="0" sz="1850" spc="-125">
                <a:latin typeface="Trebuchet MS"/>
                <a:cs typeface="Trebuchet MS"/>
              </a:rPr>
              <a:t> </a:t>
            </a:r>
            <a:r>
              <a:rPr dirty="0" sz="1850" spc="-10">
                <a:latin typeface="Trebuchet MS"/>
                <a:cs typeface="Trebuchet MS"/>
              </a:rPr>
              <a:t>Business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4480" marR="49530" indent="-271145">
              <a:lnSpc>
                <a:spcPct val="122800"/>
              </a:lnSpc>
              <a:spcBef>
                <a:spcPts val="100"/>
              </a:spcBef>
              <a:buClr>
                <a:srgbClr val="2D2D2D"/>
              </a:buClr>
              <a:buChar char="•"/>
              <a:tabLst>
                <a:tab pos="284480" algn="l"/>
              </a:tabLst>
            </a:pPr>
            <a:r>
              <a:rPr dirty="0" spc="-10">
                <a:solidFill>
                  <a:srgbClr val="262626"/>
                </a:solidFill>
              </a:rPr>
              <a:t>Subscription</a:t>
            </a:r>
            <a:r>
              <a:rPr dirty="0" spc="-85">
                <a:solidFill>
                  <a:srgbClr val="262626"/>
                </a:solidFill>
              </a:rPr>
              <a:t> </a:t>
            </a:r>
            <a:r>
              <a:rPr dirty="0">
                <a:solidFill>
                  <a:srgbClr val="2D2D2D"/>
                </a:solidFill>
              </a:rPr>
              <a:t>growth</a:t>
            </a:r>
            <a:r>
              <a:rPr dirty="0" spc="-30">
                <a:solidFill>
                  <a:srgbClr val="2D2D2D"/>
                </a:solidFill>
              </a:rPr>
              <a:t> </a:t>
            </a:r>
            <a:r>
              <a:rPr dirty="0" spc="-70">
                <a:solidFill>
                  <a:srgbClr val="2F2F2F"/>
                </a:solidFill>
              </a:rPr>
              <a:t>is</a:t>
            </a:r>
            <a:r>
              <a:rPr dirty="0" spc="-65">
                <a:solidFill>
                  <a:srgbClr val="2F2F2F"/>
                </a:solidFill>
              </a:rPr>
              <a:t> </a:t>
            </a:r>
            <a:r>
              <a:rPr dirty="0" spc="-200">
                <a:solidFill>
                  <a:srgbClr val="2D2D2D"/>
                </a:solidFill>
              </a:rPr>
              <a:t>a</a:t>
            </a:r>
            <a:r>
              <a:rPr dirty="0" spc="-55">
                <a:solidFill>
                  <a:srgbClr val="2D2D2D"/>
                </a:solidFill>
              </a:rPr>
              <a:t> </a:t>
            </a:r>
            <a:r>
              <a:rPr dirty="0" spc="-85"/>
              <a:t>major</a:t>
            </a:r>
            <a:r>
              <a:rPr dirty="0" spc="-45"/>
              <a:t> </a:t>
            </a:r>
            <a:r>
              <a:rPr dirty="0" spc="-55"/>
              <a:t>untapped</a:t>
            </a:r>
            <a:r>
              <a:rPr dirty="0" spc="25"/>
              <a:t> </a:t>
            </a:r>
            <a:r>
              <a:rPr dirty="0" spc="-50">
                <a:solidFill>
                  <a:srgbClr val="242424"/>
                </a:solidFill>
              </a:rPr>
              <a:t>opportunity</a:t>
            </a:r>
            <a:r>
              <a:rPr dirty="0" spc="50">
                <a:solidFill>
                  <a:srgbClr val="242424"/>
                </a:solidFill>
              </a:rPr>
              <a:t> </a:t>
            </a:r>
            <a:r>
              <a:rPr dirty="0" spc="-50">
                <a:solidFill>
                  <a:srgbClr val="262626"/>
                </a:solidFill>
              </a:rPr>
              <a:t>— </a:t>
            </a:r>
            <a:r>
              <a:rPr dirty="0">
                <a:solidFill>
                  <a:srgbClr val="282828"/>
                </a:solidFill>
              </a:rPr>
              <a:t>72%</a:t>
            </a:r>
            <a:r>
              <a:rPr dirty="0" spc="-85">
                <a:solidFill>
                  <a:srgbClr val="282828"/>
                </a:solidFill>
              </a:rPr>
              <a:t> </a:t>
            </a:r>
            <a:r>
              <a:rPr dirty="0" spc="-85">
                <a:solidFill>
                  <a:srgbClr val="2F2F2F"/>
                </a:solidFill>
              </a:rPr>
              <a:t>of </a:t>
            </a:r>
            <a:r>
              <a:rPr dirty="0" spc="-50">
                <a:solidFill>
                  <a:srgbClr val="1D1D1D"/>
                </a:solidFill>
              </a:rPr>
              <a:t>customers</a:t>
            </a:r>
            <a:r>
              <a:rPr dirty="0" spc="65">
                <a:solidFill>
                  <a:srgbClr val="1D1D1D"/>
                </a:solidFill>
              </a:rPr>
              <a:t> </a:t>
            </a:r>
            <a:r>
              <a:rPr dirty="0" spc="-100">
                <a:solidFill>
                  <a:srgbClr val="282828"/>
                </a:solidFill>
              </a:rPr>
              <a:t>are</a:t>
            </a:r>
            <a:r>
              <a:rPr dirty="0" spc="-75">
                <a:solidFill>
                  <a:srgbClr val="282828"/>
                </a:solidFill>
              </a:rPr>
              <a:t> </a:t>
            </a:r>
            <a:r>
              <a:rPr dirty="0" spc="-105">
                <a:solidFill>
                  <a:srgbClr val="282828"/>
                </a:solidFill>
              </a:rPr>
              <a:t>yet</a:t>
            </a:r>
            <a:r>
              <a:rPr dirty="0" spc="-125">
                <a:solidFill>
                  <a:srgbClr val="282828"/>
                </a:solidFill>
              </a:rPr>
              <a:t> </a:t>
            </a:r>
            <a:r>
              <a:rPr dirty="0" spc="-80">
                <a:solidFill>
                  <a:srgbClr val="363636"/>
                </a:solidFill>
              </a:rPr>
              <a:t>to</a:t>
            </a:r>
            <a:r>
              <a:rPr dirty="0" spc="-25">
                <a:solidFill>
                  <a:srgbClr val="363636"/>
                </a:solidFill>
              </a:rPr>
              <a:t> </a:t>
            </a:r>
            <a:r>
              <a:rPr dirty="0" spc="-10">
                <a:solidFill>
                  <a:srgbClr val="131313"/>
                </a:solidFill>
              </a:rPr>
              <a:t>subscribe</a:t>
            </a:r>
          </a:p>
          <a:p>
            <a:pPr marL="284480" marR="5080" indent="-272415">
              <a:lnSpc>
                <a:spcPct val="117300"/>
              </a:lnSpc>
              <a:spcBef>
                <a:spcPts val="500"/>
              </a:spcBef>
              <a:buClr>
                <a:srgbClr val="2D2D2D"/>
              </a:buClr>
              <a:buChar char="•"/>
              <a:tabLst>
                <a:tab pos="284480" algn="l"/>
              </a:tabLst>
            </a:pPr>
            <a:r>
              <a:rPr dirty="0" sz="1500" spc="-95">
                <a:solidFill>
                  <a:srgbClr val="262626"/>
                </a:solidFill>
              </a:rPr>
              <a:t>Outerwear</a:t>
            </a:r>
            <a:r>
              <a:rPr dirty="0" sz="1500" spc="25">
                <a:solidFill>
                  <a:srgbClr val="262626"/>
                </a:solidFill>
              </a:rPr>
              <a:t> </a:t>
            </a:r>
            <a:r>
              <a:rPr dirty="0" sz="1500" spc="-80">
                <a:solidFill>
                  <a:srgbClr val="262626"/>
                </a:solidFill>
              </a:rPr>
              <a:t>investment</a:t>
            </a:r>
            <a:r>
              <a:rPr dirty="0" sz="1500" spc="-20">
                <a:solidFill>
                  <a:srgbClr val="262626"/>
                </a:solidFill>
              </a:rPr>
              <a:t> </a:t>
            </a:r>
            <a:r>
              <a:rPr dirty="0" sz="1500" spc="-100">
                <a:solidFill>
                  <a:srgbClr val="1C1C1C"/>
                </a:solidFill>
              </a:rPr>
              <a:t>should</a:t>
            </a:r>
            <a:r>
              <a:rPr dirty="0" sz="1500" spc="-15">
                <a:solidFill>
                  <a:srgbClr val="1C1C1C"/>
                </a:solidFill>
              </a:rPr>
              <a:t> </a:t>
            </a:r>
            <a:r>
              <a:rPr dirty="0" sz="1500" spc="-140">
                <a:solidFill>
                  <a:srgbClr val="363636"/>
                </a:solidFill>
              </a:rPr>
              <a:t>be</a:t>
            </a:r>
            <a:r>
              <a:rPr dirty="0" sz="1500" spc="-95">
                <a:solidFill>
                  <a:srgbClr val="363636"/>
                </a:solidFill>
              </a:rPr>
              <a:t> </a:t>
            </a:r>
            <a:r>
              <a:rPr dirty="0" sz="1500" spc="-114">
                <a:solidFill>
                  <a:srgbClr val="232323"/>
                </a:solidFill>
              </a:rPr>
              <a:t>prioritised</a:t>
            </a:r>
            <a:r>
              <a:rPr dirty="0" sz="1500" spc="70">
                <a:solidFill>
                  <a:srgbClr val="232323"/>
                </a:solidFill>
              </a:rPr>
              <a:t> </a:t>
            </a:r>
            <a:r>
              <a:rPr dirty="0" sz="1500" spc="-130">
                <a:solidFill>
                  <a:srgbClr val="2A2A2A"/>
                </a:solidFill>
              </a:rPr>
              <a:t>in</a:t>
            </a:r>
            <a:r>
              <a:rPr dirty="0" sz="1500" spc="-60">
                <a:solidFill>
                  <a:srgbClr val="2A2A2A"/>
                </a:solidFill>
              </a:rPr>
              <a:t> </a:t>
            </a:r>
            <a:r>
              <a:rPr dirty="0" sz="1500" spc="-80">
                <a:solidFill>
                  <a:srgbClr val="242424"/>
                </a:solidFill>
              </a:rPr>
              <a:t>inventory </a:t>
            </a:r>
            <a:r>
              <a:rPr dirty="0" sz="1500" spc="-114">
                <a:solidFill>
                  <a:srgbClr val="1D1D1D"/>
                </a:solidFill>
              </a:rPr>
              <a:t>and</a:t>
            </a:r>
            <a:r>
              <a:rPr dirty="0" sz="1500" spc="-55">
                <a:solidFill>
                  <a:srgbClr val="1D1D1D"/>
                </a:solidFill>
              </a:rPr>
              <a:t> </a:t>
            </a:r>
            <a:r>
              <a:rPr dirty="0" sz="1500" spc="-135">
                <a:solidFill>
                  <a:srgbClr val="262626"/>
                </a:solidFill>
              </a:rPr>
              <a:t>marketing</a:t>
            </a:r>
            <a:r>
              <a:rPr dirty="0" sz="1500" spc="35">
                <a:solidFill>
                  <a:srgbClr val="262626"/>
                </a:solidFill>
              </a:rPr>
              <a:t> </a:t>
            </a:r>
            <a:r>
              <a:rPr dirty="0" sz="1500" spc="-10">
                <a:solidFill>
                  <a:srgbClr val="1C1C1C"/>
                </a:solidFill>
              </a:rPr>
              <a:t>budgets</a:t>
            </a:r>
            <a:endParaRPr sz="1500"/>
          </a:p>
          <a:p>
            <a:pPr marL="284480" marR="661670" indent="-271145">
              <a:lnSpc>
                <a:spcPct val="121300"/>
              </a:lnSpc>
              <a:spcBef>
                <a:spcPts val="370"/>
              </a:spcBef>
              <a:buClr>
                <a:srgbClr val="2D2D2D"/>
              </a:buClr>
              <a:buChar char="•"/>
              <a:tabLst>
                <a:tab pos="286385" algn="l"/>
              </a:tabLst>
            </a:pPr>
            <a:r>
              <a:rPr dirty="0" sz="1450" spc="-85">
                <a:solidFill>
                  <a:srgbClr val="282828"/>
                </a:solidFill>
              </a:rPr>
              <a:t>Targeted</a:t>
            </a:r>
            <a:r>
              <a:rPr dirty="0" sz="1450" spc="-15">
                <a:solidFill>
                  <a:srgbClr val="282828"/>
                </a:solidFill>
              </a:rPr>
              <a:t> </a:t>
            </a:r>
            <a:r>
              <a:rPr dirty="0" sz="1450" spc="-35">
                <a:solidFill>
                  <a:srgbClr val="282828"/>
                </a:solidFill>
              </a:rPr>
              <a:t>campaigns</a:t>
            </a:r>
            <a:r>
              <a:rPr dirty="0" sz="1450" spc="25">
                <a:solidFill>
                  <a:srgbClr val="282828"/>
                </a:solidFill>
              </a:rPr>
              <a:t> </a:t>
            </a:r>
            <a:r>
              <a:rPr dirty="0" sz="1450" spc="-125">
                <a:solidFill>
                  <a:srgbClr val="1F1F1F"/>
                </a:solidFill>
              </a:rPr>
              <a:t>for</a:t>
            </a:r>
            <a:r>
              <a:rPr dirty="0" sz="1450" spc="-30">
                <a:solidFill>
                  <a:srgbClr val="1F1F1F"/>
                </a:solidFill>
              </a:rPr>
              <a:t> </a:t>
            </a:r>
            <a:r>
              <a:rPr dirty="0" sz="1450" spc="-85">
                <a:solidFill>
                  <a:srgbClr val="2A2A2A"/>
                </a:solidFill>
              </a:rPr>
              <a:t>senior</a:t>
            </a:r>
            <a:r>
              <a:rPr dirty="0" sz="1450" spc="15">
                <a:solidFill>
                  <a:srgbClr val="2A2A2A"/>
                </a:solidFill>
              </a:rPr>
              <a:t> </a:t>
            </a:r>
            <a:r>
              <a:rPr dirty="0" sz="1450" spc="-70">
                <a:solidFill>
                  <a:srgbClr val="262626"/>
                </a:solidFill>
              </a:rPr>
              <a:t>and</a:t>
            </a:r>
            <a:r>
              <a:rPr dirty="0" sz="1450" spc="-85">
                <a:solidFill>
                  <a:srgbClr val="262626"/>
                </a:solidFill>
              </a:rPr>
              <a:t> </a:t>
            </a:r>
            <a:r>
              <a:rPr dirty="0" sz="1450" spc="-100">
                <a:solidFill>
                  <a:srgbClr val="2A2A2A"/>
                </a:solidFill>
              </a:rPr>
              <a:t>middle-</a:t>
            </a:r>
            <a:r>
              <a:rPr dirty="0" sz="1450" spc="-65">
                <a:solidFill>
                  <a:srgbClr val="2A2A2A"/>
                </a:solidFill>
              </a:rPr>
              <a:t>aged </a:t>
            </a:r>
            <a:r>
              <a:rPr dirty="0" sz="1450" spc="-65">
                <a:solidFill>
                  <a:srgbClr val="2A2A2A"/>
                </a:solidFill>
              </a:rPr>
              <a:t>	</a:t>
            </a:r>
            <a:r>
              <a:rPr dirty="0" sz="1450" spc="-85">
                <a:solidFill>
                  <a:srgbClr val="212121"/>
                </a:solidFill>
              </a:rPr>
              <a:t>segments</a:t>
            </a:r>
            <a:r>
              <a:rPr dirty="0" sz="1450" spc="10">
                <a:solidFill>
                  <a:srgbClr val="212121"/>
                </a:solidFill>
              </a:rPr>
              <a:t> </a:t>
            </a:r>
            <a:r>
              <a:rPr dirty="0" sz="1450" spc="-95">
                <a:solidFill>
                  <a:srgbClr val="1F1F1F"/>
                </a:solidFill>
              </a:rPr>
              <a:t>can</a:t>
            </a:r>
            <a:r>
              <a:rPr dirty="0" sz="1450" spc="-55">
                <a:solidFill>
                  <a:srgbClr val="1F1F1F"/>
                </a:solidFill>
              </a:rPr>
              <a:t> </a:t>
            </a:r>
            <a:r>
              <a:rPr dirty="0" sz="1450" spc="-95"/>
              <a:t>maximise</a:t>
            </a:r>
            <a:r>
              <a:rPr dirty="0" sz="1450" spc="10"/>
              <a:t> </a:t>
            </a:r>
            <a:r>
              <a:rPr dirty="0" sz="1450" spc="-25">
                <a:solidFill>
                  <a:srgbClr val="2A2A2A"/>
                </a:solidFill>
              </a:rPr>
              <a:t>ROI</a:t>
            </a:r>
            <a:endParaRPr sz="1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2026-04-20T20:15:03Z</dcterms:created>
  <dcterms:modified xsi:type="dcterms:W3CDTF">2026-04-20T20:15:03Z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2026-04-20T00:00:00Z</vt:filetime>
  </property>
  <property fmtid="{D5CDD505-2E9C-101B-9397-08002B2CF9AE}" pid="3" name="LastSaved">
    <vt:filetime>2026-04-20T00:00:00Z</vt:filetime>
  </property>
  <property fmtid="{D5CDD505-2E9C-101B-9397-08002B2CF9AE}" pid="4" name="Producer">
    <vt:lpwstr>iLovePDF</vt:lpwstr>
  </property>
</Properties>
</file>